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ssistant" pitchFamily="2" charset="-79"/>
      <p:regular r:id="rId12"/>
    </p:embeddedFont>
    <p:embeddedFont>
      <p:font typeface="Blinker" panose="020B0604020202020204" charset="0"/>
      <p:regular r:id="rId13"/>
    </p:embeddedFont>
    <p:embeddedFont>
      <p:font typeface="Blinker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6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042" y="0"/>
            <a:ext cx="17772958" cy="10287000"/>
          </a:xfrm>
          <a:custGeom>
            <a:avLst/>
            <a:gdLst/>
            <a:ahLst/>
            <a:cxnLst/>
            <a:rect l="l" t="t" r="r" b="b"/>
            <a:pathLst>
              <a:path w="17772958" h="10287000">
                <a:moveTo>
                  <a:pt x="0" y="0"/>
                </a:moveTo>
                <a:lnTo>
                  <a:pt x="17772958" y="0"/>
                </a:lnTo>
                <a:lnTo>
                  <a:pt x="17772958" y="10287000"/>
                </a:lnTo>
                <a:lnTo>
                  <a:pt x="0" y="10287000"/>
                </a:lnTo>
                <a:lnTo>
                  <a:pt x="0" y="0"/>
                </a:lnTo>
                <a:close/>
              </a:path>
            </a:pathLst>
          </a:custGeom>
          <a:blipFill>
            <a:blip r:embed="rId2"/>
            <a:stretch>
              <a:fillRect l="-3984" t="-17550" r="-8890" b="-12669"/>
            </a:stretch>
          </a:blipFill>
        </p:spPr>
      </p:sp>
      <p:grpSp>
        <p:nvGrpSpPr>
          <p:cNvPr id="3" name="Group 3"/>
          <p:cNvGrpSpPr/>
          <p:nvPr/>
        </p:nvGrpSpPr>
        <p:grpSpPr>
          <a:xfrm>
            <a:off x="0" y="0"/>
            <a:ext cx="515042" cy="10287000"/>
            <a:chOff x="0" y="0"/>
            <a:chExt cx="135649" cy="2709333"/>
          </a:xfrm>
        </p:grpSpPr>
        <p:sp>
          <p:nvSpPr>
            <p:cNvPr id="4" name="Freeform 4"/>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E5D0A9"/>
            </a:solidFill>
          </p:spPr>
        </p:sp>
        <p:sp>
          <p:nvSpPr>
            <p:cNvPr id="5" name="TextBox 5"/>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sp>
        <p:nvSpPr>
          <p:cNvPr id="6" name="TextBox 6"/>
          <p:cNvSpPr txBox="1"/>
          <p:nvPr/>
        </p:nvSpPr>
        <p:spPr>
          <a:xfrm>
            <a:off x="873795" y="406629"/>
            <a:ext cx="16540409" cy="887506"/>
          </a:xfrm>
          <a:prstGeom prst="rect">
            <a:avLst/>
          </a:prstGeom>
        </p:spPr>
        <p:txBody>
          <a:bodyPr lIns="0" tIns="0" rIns="0" bIns="0" rtlCol="0" anchor="t">
            <a:spAutoFit/>
          </a:bodyPr>
          <a:lstStyle/>
          <a:p>
            <a:pPr algn="ctr">
              <a:lnSpc>
                <a:spcPts val="6497"/>
              </a:lnSpc>
            </a:pPr>
            <a:r>
              <a:rPr lang="en-US" sz="7300" b="1">
                <a:solidFill>
                  <a:srgbClr val="E5D0A9"/>
                </a:solidFill>
                <a:latin typeface="Blinker Bold"/>
                <a:ea typeface="Blinker Bold"/>
                <a:cs typeface="Blinker Bold"/>
                <a:sym typeface="Blinker Bold"/>
              </a:rPr>
              <a:t>OBSERVATION MONDIALE DE LA PARITE</a:t>
            </a:r>
          </a:p>
        </p:txBody>
      </p:sp>
      <p:sp>
        <p:nvSpPr>
          <p:cNvPr id="7" name="TextBox 7"/>
          <p:cNvSpPr txBox="1"/>
          <p:nvPr/>
        </p:nvSpPr>
        <p:spPr>
          <a:xfrm>
            <a:off x="4447262" y="1012291"/>
            <a:ext cx="9655688" cy="1111251"/>
          </a:xfrm>
          <a:prstGeom prst="rect">
            <a:avLst/>
          </a:prstGeom>
        </p:spPr>
        <p:txBody>
          <a:bodyPr lIns="0" tIns="0" rIns="0" bIns="0" rtlCol="0" anchor="t">
            <a:spAutoFit/>
          </a:bodyPr>
          <a:lstStyle/>
          <a:p>
            <a:pPr algn="ctr">
              <a:lnSpc>
                <a:spcPts val="9099"/>
              </a:lnSpc>
            </a:pPr>
            <a:r>
              <a:rPr lang="en-US" sz="6499" b="1">
                <a:solidFill>
                  <a:srgbClr val="E5D0A9"/>
                </a:solidFill>
                <a:latin typeface="Blinker Bold"/>
                <a:ea typeface="Blinker Bold"/>
                <a:cs typeface="Blinker Bold"/>
                <a:sym typeface="Blinker Bold"/>
              </a:rPr>
              <a:t>PRESENTATION</a:t>
            </a:r>
          </a:p>
        </p:txBody>
      </p:sp>
      <p:sp>
        <p:nvSpPr>
          <p:cNvPr id="8" name="Freeform 8" descr="Symbol"/>
          <p:cNvSpPr/>
          <p:nvPr/>
        </p:nvSpPr>
        <p:spPr>
          <a:xfrm>
            <a:off x="14275889" y="9463725"/>
            <a:ext cx="695885" cy="587436"/>
          </a:xfrm>
          <a:custGeom>
            <a:avLst/>
            <a:gdLst/>
            <a:ahLst/>
            <a:cxnLst/>
            <a:rect l="l" t="t" r="r" b="b"/>
            <a:pathLst>
              <a:path w="695885" h="587436">
                <a:moveTo>
                  <a:pt x="0" y="0"/>
                </a:moveTo>
                <a:lnTo>
                  <a:pt x="695886" y="0"/>
                </a:lnTo>
                <a:lnTo>
                  <a:pt x="695886" y="587436"/>
                </a:lnTo>
                <a:lnTo>
                  <a:pt x="0" y="5874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15095194" y="9602595"/>
            <a:ext cx="2888005" cy="425950"/>
          </a:xfrm>
          <a:prstGeom prst="rect">
            <a:avLst/>
          </a:prstGeom>
        </p:spPr>
        <p:txBody>
          <a:bodyPr wrap="square" lIns="0" tIns="0" rIns="0" bIns="0" rtlCol="0" anchor="t">
            <a:spAutoFit/>
          </a:bodyPr>
          <a:lstStyle/>
          <a:p>
            <a:pPr algn="ctr">
              <a:lnSpc>
                <a:spcPts val="3625"/>
              </a:lnSpc>
              <a:spcBef>
                <a:spcPct val="0"/>
              </a:spcBef>
            </a:pPr>
            <a:r>
              <a:rPr lang="en-US" sz="2589" dirty="0">
                <a:solidFill>
                  <a:srgbClr val="E5D0A9"/>
                </a:solidFill>
                <a:latin typeface="Blinker"/>
                <a:ea typeface="Blinker"/>
                <a:cs typeface="Blinker"/>
                <a:sym typeface="Blinker"/>
              </a:rPr>
              <a:t>Maryline IANNOTTA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042" y="-113603"/>
            <a:ext cx="17772958" cy="10591101"/>
          </a:xfrm>
          <a:custGeom>
            <a:avLst/>
            <a:gdLst/>
            <a:ahLst/>
            <a:cxnLst/>
            <a:rect l="l" t="t" r="r" b="b"/>
            <a:pathLst>
              <a:path w="17772958" h="10287000">
                <a:moveTo>
                  <a:pt x="0" y="0"/>
                </a:moveTo>
                <a:lnTo>
                  <a:pt x="17772958" y="0"/>
                </a:lnTo>
                <a:lnTo>
                  <a:pt x="17772958" y="10287000"/>
                </a:lnTo>
                <a:lnTo>
                  <a:pt x="0" y="10287000"/>
                </a:lnTo>
                <a:lnTo>
                  <a:pt x="0" y="0"/>
                </a:lnTo>
                <a:close/>
              </a:path>
            </a:pathLst>
          </a:custGeom>
          <a:blipFill>
            <a:blip r:embed="rId2"/>
            <a:stretch>
              <a:fillRect l="-3072" t="-15391" r="-10491" b="-15575"/>
            </a:stretch>
          </a:blipFill>
        </p:spPr>
      </p:sp>
      <p:grpSp>
        <p:nvGrpSpPr>
          <p:cNvPr id="3" name="Group 3"/>
          <p:cNvGrpSpPr/>
          <p:nvPr/>
        </p:nvGrpSpPr>
        <p:grpSpPr>
          <a:xfrm>
            <a:off x="-113601" y="-113602"/>
            <a:ext cx="628643" cy="10591101"/>
            <a:chOff x="0" y="0"/>
            <a:chExt cx="165568" cy="2769173"/>
          </a:xfrm>
        </p:grpSpPr>
        <p:sp>
          <p:nvSpPr>
            <p:cNvPr id="4" name="Freeform 4"/>
            <p:cNvSpPr/>
            <p:nvPr/>
          </p:nvSpPr>
          <p:spPr>
            <a:xfrm>
              <a:off x="0" y="0"/>
              <a:ext cx="165568" cy="2769173"/>
            </a:xfrm>
            <a:custGeom>
              <a:avLst/>
              <a:gdLst/>
              <a:ahLst/>
              <a:cxnLst/>
              <a:rect l="l" t="t" r="r" b="b"/>
              <a:pathLst>
                <a:path w="165568" h="2769173">
                  <a:moveTo>
                    <a:pt x="0" y="0"/>
                  </a:moveTo>
                  <a:lnTo>
                    <a:pt x="165568" y="0"/>
                  </a:lnTo>
                  <a:lnTo>
                    <a:pt x="165568" y="2769173"/>
                  </a:lnTo>
                  <a:lnTo>
                    <a:pt x="0" y="2769173"/>
                  </a:lnTo>
                  <a:close/>
                </a:path>
              </a:pathLst>
            </a:custGeom>
            <a:solidFill>
              <a:srgbClr val="221D16"/>
            </a:solidFill>
          </p:spPr>
        </p:sp>
        <p:sp>
          <p:nvSpPr>
            <p:cNvPr id="5" name="TextBox 5"/>
            <p:cNvSpPr txBox="1"/>
            <p:nvPr/>
          </p:nvSpPr>
          <p:spPr>
            <a:xfrm>
              <a:off x="0" y="85725"/>
              <a:ext cx="165568" cy="2683448"/>
            </a:xfrm>
            <a:prstGeom prst="rect">
              <a:avLst/>
            </a:prstGeom>
          </p:spPr>
          <p:txBody>
            <a:bodyPr lIns="50800" tIns="50800" rIns="50800" bIns="50800" rtlCol="0" anchor="ctr"/>
            <a:lstStyle/>
            <a:p>
              <a:pPr algn="ctr">
                <a:lnSpc>
                  <a:spcPts val="2149"/>
                </a:lnSpc>
              </a:pPr>
              <a:endParaRPr/>
            </a:p>
          </p:txBody>
        </p:sp>
      </p:grpSp>
      <p:grpSp>
        <p:nvGrpSpPr>
          <p:cNvPr id="6" name="Group 6"/>
          <p:cNvGrpSpPr/>
          <p:nvPr/>
        </p:nvGrpSpPr>
        <p:grpSpPr>
          <a:xfrm>
            <a:off x="515042" y="-113601"/>
            <a:ext cx="10593153" cy="7047611"/>
            <a:chOff x="0" y="0"/>
            <a:chExt cx="2789966" cy="1856161"/>
          </a:xfrm>
        </p:grpSpPr>
        <p:sp>
          <p:nvSpPr>
            <p:cNvPr id="7" name="Freeform 7"/>
            <p:cNvSpPr/>
            <p:nvPr/>
          </p:nvSpPr>
          <p:spPr>
            <a:xfrm>
              <a:off x="0" y="0"/>
              <a:ext cx="2789966" cy="1856161"/>
            </a:xfrm>
            <a:custGeom>
              <a:avLst/>
              <a:gdLst/>
              <a:ahLst/>
              <a:cxnLst/>
              <a:rect l="l" t="t" r="r" b="b"/>
              <a:pathLst>
                <a:path w="2789966" h="1856161">
                  <a:moveTo>
                    <a:pt x="0" y="0"/>
                  </a:moveTo>
                  <a:lnTo>
                    <a:pt x="2789966" y="0"/>
                  </a:lnTo>
                  <a:lnTo>
                    <a:pt x="2789966" y="1856161"/>
                  </a:lnTo>
                  <a:lnTo>
                    <a:pt x="0" y="1856161"/>
                  </a:lnTo>
                  <a:close/>
                </a:path>
              </a:pathLst>
            </a:custGeom>
            <a:solidFill>
              <a:srgbClr val="000000">
                <a:alpha val="73725"/>
              </a:srgbClr>
            </a:solidFill>
          </p:spPr>
        </p:sp>
        <p:sp>
          <p:nvSpPr>
            <p:cNvPr id="8" name="TextBox 8"/>
            <p:cNvSpPr txBox="1"/>
            <p:nvPr/>
          </p:nvSpPr>
          <p:spPr>
            <a:xfrm>
              <a:off x="0" y="85725"/>
              <a:ext cx="2789966" cy="1770436"/>
            </a:xfrm>
            <a:prstGeom prst="rect">
              <a:avLst/>
            </a:prstGeom>
          </p:spPr>
          <p:txBody>
            <a:bodyPr lIns="50800" tIns="50800" rIns="50800" bIns="50800" rtlCol="0" anchor="ctr"/>
            <a:lstStyle/>
            <a:p>
              <a:pPr algn="ctr">
                <a:lnSpc>
                  <a:spcPts val="2149"/>
                </a:lnSpc>
              </a:pPr>
              <a:endParaRPr/>
            </a:p>
          </p:txBody>
        </p:sp>
      </p:grpSp>
      <p:sp>
        <p:nvSpPr>
          <p:cNvPr id="9" name="TextBox 9"/>
          <p:cNvSpPr txBox="1"/>
          <p:nvPr/>
        </p:nvSpPr>
        <p:spPr>
          <a:xfrm>
            <a:off x="515042" y="-209550"/>
            <a:ext cx="9407999" cy="1882778"/>
          </a:xfrm>
          <a:prstGeom prst="rect">
            <a:avLst/>
          </a:prstGeom>
        </p:spPr>
        <p:txBody>
          <a:bodyPr lIns="0" tIns="0" rIns="0" bIns="0" rtlCol="0" anchor="t">
            <a:spAutoFit/>
          </a:bodyPr>
          <a:lstStyle/>
          <a:p>
            <a:pPr algn="l">
              <a:lnSpc>
                <a:spcPts val="15399"/>
              </a:lnSpc>
            </a:pPr>
            <a:r>
              <a:rPr lang="en-US" sz="10999" b="1">
                <a:solidFill>
                  <a:srgbClr val="E5D0A9"/>
                </a:solidFill>
                <a:latin typeface="Blinker Bold"/>
                <a:ea typeface="Blinker Bold"/>
                <a:cs typeface="Blinker Bold"/>
                <a:sym typeface="Blinker Bold"/>
              </a:rPr>
              <a:t>BIENVENUE</a:t>
            </a:r>
          </a:p>
        </p:txBody>
      </p:sp>
      <p:sp>
        <p:nvSpPr>
          <p:cNvPr id="10" name="TextBox 10"/>
          <p:cNvSpPr txBox="1"/>
          <p:nvPr/>
        </p:nvSpPr>
        <p:spPr>
          <a:xfrm>
            <a:off x="515042" y="1616078"/>
            <a:ext cx="9026887" cy="5219700"/>
          </a:xfrm>
          <a:prstGeom prst="rect">
            <a:avLst/>
          </a:prstGeom>
        </p:spPr>
        <p:txBody>
          <a:bodyPr lIns="0" tIns="0" rIns="0" bIns="0" rtlCol="0" anchor="t">
            <a:spAutoFit/>
          </a:bodyPr>
          <a:lstStyle/>
          <a:p>
            <a:pPr algn="l">
              <a:lnSpc>
                <a:spcPts val="4199"/>
              </a:lnSpc>
            </a:pPr>
            <a:r>
              <a:rPr lang="en-US" sz="2999">
                <a:solidFill>
                  <a:srgbClr val="E5D0A9"/>
                </a:solidFill>
                <a:latin typeface="Blinker"/>
                <a:ea typeface="Blinker"/>
                <a:cs typeface="Blinker"/>
                <a:sym typeface="Blinker"/>
              </a:rPr>
              <a:t>Ce projet sur la parité mondiale reflète une volonté personnelle, ancrée dans des valeurs qui me tiennent particulièrement à cœur : l’égalité, la justice sociale et l’émancipation de chacun·e. Au-delà des chiffres, il s’agit de contribuer à une prise de conscience collective pour promouvoir une société plus inclusive et respectueuse des droits fondamentaux de toutes et tous. Porter ce sujet, c’est agir concrètement pour un monde où l’équité entre femmes et hommes n’est plus une option, mais une réalité partagée.</a:t>
            </a:r>
          </a:p>
        </p:txBody>
      </p:sp>
      <p:sp>
        <p:nvSpPr>
          <p:cNvPr id="11" name="TextBox 11"/>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E5D0A9"/>
                </a:solidFill>
                <a:latin typeface="Assistant"/>
                <a:ea typeface="Assistant"/>
                <a:cs typeface="Assistant"/>
                <a:sym typeface="Assistant"/>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042" y="0"/>
            <a:ext cx="17772958" cy="10287000"/>
          </a:xfrm>
          <a:custGeom>
            <a:avLst/>
            <a:gdLst/>
            <a:ahLst/>
            <a:cxnLst/>
            <a:rect l="l" t="t" r="r" b="b"/>
            <a:pathLst>
              <a:path w="17772958" h="10287000">
                <a:moveTo>
                  <a:pt x="0" y="0"/>
                </a:moveTo>
                <a:lnTo>
                  <a:pt x="17772958" y="0"/>
                </a:lnTo>
                <a:lnTo>
                  <a:pt x="17772958" y="10287000"/>
                </a:lnTo>
                <a:lnTo>
                  <a:pt x="0" y="10287000"/>
                </a:lnTo>
                <a:lnTo>
                  <a:pt x="0" y="0"/>
                </a:lnTo>
                <a:close/>
              </a:path>
            </a:pathLst>
          </a:custGeom>
          <a:blipFill>
            <a:blip r:embed="rId2"/>
            <a:stretch>
              <a:fillRect l="-923" t="-5188" r="-7313"/>
            </a:stretch>
          </a:blipFill>
        </p:spPr>
      </p:sp>
      <p:grpSp>
        <p:nvGrpSpPr>
          <p:cNvPr id="3" name="Group 3"/>
          <p:cNvGrpSpPr/>
          <p:nvPr/>
        </p:nvGrpSpPr>
        <p:grpSpPr>
          <a:xfrm>
            <a:off x="0" y="0"/>
            <a:ext cx="515042" cy="10287000"/>
            <a:chOff x="0" y="0"/>
            <a:chExt cx="135649" cy="2709333"/>
          </a:xfrm>
        </p:grpSpPr>
        <p:sp>
          <p:nvSpPr>
            <p:cNvPr id="4" name="Freeform 4"/>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221D16"/>
            </a:solidFill>
          </p:spPr>
        </p:sp>
        <p:sp>
          <p:nvSpPr>
            <p:cNvPr id="5" name="TextBox 5"/>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grpSp>
        <p:nvGrpSpPr>
          <p:cNvPr id="6" name="Group 6"/>
          <p:cNvGrpSpPr/>
          <p:nvPr/>
        </p:nvGrpSpPr>
        <p:grpSpPr>
          <a:xfrm>
            <a:off x="515042" y="0"/>
            <a:ext cx="13075144" cy="8433979"/>
            <a:chOff x="0" y="0"/>
            <a:chExt cx="3443659" cy="2221295"/>
          </a:xfrm>
        </p:grpSpPr>
        <p:sp>
          <p:nvSpPr>
            <p:cNvPr id="7" name="Freeform 7"/>
            <p:cNvSpPr/>
            <p:nvPr/>
          </p:nvSpPr>
          <p:spPr>
            <a:xfrm>
              <a:off x="0" y="0"/>
              <a:ext cx="3443660" cy="2221295"/>
            </a:xfrm>
            <a:custGeom>
              <a:avLst/>
              <a:gdLst/>
              <a:ahLst/>
              <a:cxnLst/>
              <a:rect l="l" t="t" r="r" b="b"/>
              <a:pathLst>
                <a:path w="3443660" h="2221295">
                  <a:moveTo>
                    <a:pt x="0" y="0"/>
                  </a:moveTo>
                  <a:lnTo>
                    <a:pt x="3443660" y="0"/>
                  </a:lnTo>
                  <a:lnTo>
                    <a:pt x="3443660" y="2221295"/>
                  </a:lnTo>
                  <a:lnTo>
                    <a:pt x="0" y="2221295"/>
                  </a:lnTo>
                  <a:close/>
                </a:path>
              </a:pathLst>
            </a:custGeom>
            <a:solidFill>
              <a:srgbClr val="000000">
                <a:alpha val="76863"/>
              </a:srgbClr>
            </a:solidFill>
          </p:spPr>
        </p:sp>
        <p:sp>
          <p:nvSpPr>
            <p:cNvPr id="8" name="TextBox 8"/>
            <p:cNvSpPr txBox="1"/>
            <p:nvPr/>
          </p:nvSpPr>
          <p:spPr>
            <a:xfrm>
              <a:off x="0" y="85725"/>
              <a:ext cx="3443659" cy="2135570"/>
            </a:xfrm>
            <a:prstGeom prst="rect">
              <a:avLst/>
            </a:prstGeom>
          </p:spPr>
          <p:txBody>
            <a:bodyPr lIns="50800" tIns="50800" rIns="50800" bIns="50800" rtlCol="0" anchor="ctr"/>
            <a:lstStyle/>
            <a:p>
              <a:pPr algn="ctr">
                <a:lnSpc>
                  <a:spcPts val="2149"/>
                </a:lnSpc>
              </a:pPr>
              <a:endParaRPr/>
            </a:p>
          </p:txBody>
        </p:sp>
      </p:grpSp>
      <p:sp>
        <p:nvSpPr>
          <p:cNvPr id="9" name="TextBox 9"/>
          <p:cNvSpPr txBox="1"/>
          <p:nvPr/>
        </p:nvSpPr>
        <p:spPr>
          <a:xfrm>
            <a:off x="1244894" y="53739"/>
            <a:ext cx="12625710" cy="1210308"/>
          </a:xfrm>
          <a:prstGeom prst="rect">
            <a:avLst/>
          </a:prstGeom>
        </p:spPr>
        <p:txBody>
          <a:bodyPr lIns="0" tIns="0" rIns="0" bIns="0" rtlCol="0" anchor="t">
            <a:spAutoFit/>
          </a:bodyPr>
          <a:lstStyle/>
          <a:p>
            <a:pPr algn="l">
              <a:lnSpc>
                <a:spcPts val="9940"/>
              </a:lnSpc>
            </a:pPr>
            <a:r>
              <a:rPr lang="en-US" sz="7100" b="1">
                <a:solidFill>
                  <a:srgbClr val="E5D0A9"/>
                </a:solidFill>
                <a:latin typeface="Blinker Bold"/>
                <a:ea typeface="Blinker Bold"/>
                <a:cs typeface="Blinker Bold"/>
                <a:sym typeface="Blinker Bold"/>
              </a:rPr>
              <a:t>POURQUOI MESURER LA PARITÉ ?</a:t>
            </a:r>
          </a:p>
        </p:txBody>
      </p:sp>
      <p:sp>
        <p:nvSpPr>
          <p:cNvPr id="10" name="TextBox 10"/>
          <p:cNvSpPr txBox="1"/>
          <p:nvPr/>
        </p:nvSpPr>
        <p:spPr>
          <a:xfrm>
            <a:off x="1244894" y="1760503"/>
            <a:ext cx="8959352" cy="6267450"/>
          </a:xfrm>
          <a:prstGeom prst="rect">
            <a:avLst/>
          </a:prstGeom>
        </p:spPr>
        <p:txBody>
          <a:bodyPr lIns="0" tIns="0" rIns="0" bIns="0" rtlCol="0" anchor="t">
            <a:spAutoFit/>
          </a:bodyPr>
          <a:lstStyle/>
          <a:p>
            <a:pPr marL="647697" lvl="1" indent="-323848" algn="l">
              <a:lnSpc>
                <a:spcPts val="4199"/>
              </a:lnSpc>
              <a:buFont typeface="Arial"/>
              <a:buChar char="•"/>
            </a:pPr>
            <a:r>
              <a:rPr lang="en-US" sz="2999">
                <a:solidFill>
                  <a:srgbClr val="E5D0A9"/>
                </a:solidFill>
                <a:latin typeface="Blinker"/>
                <a:ea typeface="Blinker"/>
                <a:cs typeface="Blinker"/>
                <a:sym typeface="Blinker"/>
              </a:rPr>
              <a:t>D’identifier les urgences et les domaines où l’inégalité de genre freine le développement humain et économique (ex : accès inégal à l’éducation, à l’emploi, ou à la santé).</a:t>
            </a:r>
          </a:p>
          <a:p>
            <a:pPr algn="l">
              <a:lnSpc>
                <a:spcPts val="4199"/>
              </a:lnSpc>
            </a:pPr>
            <a:endParaRPr lang="en-US" sz="2999">
              <a:solidFill>
                <a:srgbClr val="E5D0A9"/>
              </a:solidFill>
              <a:latin typeface="Blinker"/>
              <a:ea typeface="Blinker"/>
              <a:cs typeface="Blinker"/>
              <a:sym typeface="Blinker"/>
            </a:endParaRPr>
          </a:p>
          <a:p>
            <a:pPr marL="647697" lvl="1" indent="-323848" algn="l">
              <a:lnSpc>
                <a:spcPts val="4199"/>
              </a:lnSpc>
              <a:buFont typeface="Arial"/>
              <a:buChar char="•"/>
            </a:pPr>
            <a:r>
              <a:rPr lang="en-US" sz="2999">
                <a:solidFill>
                  <a:srgbClr val="E5D0A9"/>
                </a:solidFill>
                <a:latin typeface="Blinker"/>
                <a:ea typeface="Blinker"/>
                <a:cs typeface="Blinker"/>
                <a:sym typeface="Blinker"/>
              </a:rPr>
              <a:t>D’engager des actions ciblées pour promouvoir l’égalité, réduire les discriminations et optimiser l’impact des programmes sociaux.</a:t>
            </a:r>
          </a:p>
          <a:p>
            <a:pPr algn="l">
              <a:lnSpc>
                <a:spcPts val="4199"/>
              </a:lnSpc>
            </a:pPr>
            <a:endParaRPr lang="en-US" sz="2999">
              <a:solidFill>
                <a:srgbClr val="E5D0A9"/>
              </a:solidFill>
              <a:latin typeface="Blinker"/>
              <a:ea typeface="Blinker"/>
              <a:cs typeface="Blinker"/>
              <a:sym typeface="Blinker"/>
            </a:endParaRPr>
          </a:p>
          <a:p>
            <a:pPr marL="647697" lvl="1" indent="-323848" algn="l">
              <a:lnSpc>
                <a:spcPts val="4199"/>
              </a:lnSpc>
              <a:buFont typeface="Arial"/>
              <a:buChar char="•"/>
            </a:pPr>
            <a:r>
              <a:rPr lang="en-US" sz="2999">
                <a:solidFill>
                  <a:srgbClr val="E5D0A9"/>
                </a:solidFill>
                <a:latin typeface="Blinker"/>
                <a:ea typeface="Blinker"/>
                <a:cs typeface="Blinker"/>
                <a:sym typeface="Blinker"/>
              </a:rPr>
              <a:t>De garantir le respect des droits fondamentaux, fondement des sociétés justes et prospères.</a:t>
            </a:r>
          </a:p>
          <a:p>
            <a:pPr algn="l">
              <a:lnSpc>
                <a:spcPts val="4199"/>
              </a:lnSpc>
            </a:pPr>
            <a:endParaRPr lang="en-US" sz="2999">
              <a:solidFill>
                <a:srgbClr val="E5D0A9"/>
              </a:solidFill>
              <a:latin typeface="Blinker"/>
              <a:ea typeface="Blinker"/>
              <a:cs typeface="Blinker"/>
              <a:sym typeface="Blinker"/>
            </a:endParaRPr>
          </a:p>
        </p:txBody>
      </p:sp>
      <p:sp>
        <p:nvSpPr>
          <p:cNvPr id="11" name="TextBox 11"/>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000000"/>
                </a:solidFill>
                <a:latin typeface="Assistant"/>
                <a:ea typeface="Assistant"/>
                <a:cs typeface="Assistant"/>
                <a:sym typeface="Assistant"/>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042" y="0"/>
            <a:ext cx="17772958" cy="10287000"/>
          </a:xfrm>
          <a:custGeom>
            <a:avLst/>
            <a:gdLst/>
            <a:ahLst/>
            <a:cxnLst/>
            <a:rect l="l" t="t" r="r" b="b"/>
            <a:pathLst>
              <a:path w="17772958" h="10287000">
                <a:moveTo>
                  <a:pt x="0" y="0"/>
                </a:moveTo>
                <a:lnTo>
                  <a:pt x="17772958" y="0"/>
                </a:lnTo>
                <a:lnTo>
                  <a:pt x="17772958" y="10287000"/>
                </a:lnTo>
                <a:lnTo>
                  <a:pt x="0" y="10287000"/>
                </a:lnTo>
                <a:lnTo>
                  <a:pt x="0" y="0"/>
                </a:lnTo>
                <a:close/>
              </a:path>
            </a:pathLst>
          </a:custGeom>
          <a:blipFill>
            <a:blip r:embed="rId2"/>
            <a:stretch>
              <a:fillRect l="-12686" t="-7004" b="-7618"/>
            </a:stretch>
          </a:blipFill>
        </p:spPr>
      </p:sp>
      <p:grpSp>
        <p:nvGrpSpPr>
          <p:cNvPr id="3" name="Group 3"/>
          <p:cNvGrpSpPr/>
          <p:nvPr/>
        </p:nvGrpSpPr>
        <p:grpSpPr>
          <a:xfrm>
            <a:off x="0" y="0"/>
            <a:ext cx="515042" cy="10287000"/>
            <a:chOff x="0" y="0"/>
            <a:chExt cx="135649" cy="2709333"/>
          </a:xfrm>
        </p:grpSpPr>
        <p:sp>
          <p:nvSpPr>
            <p:cNvPr id="4" name="Freeform 4"/>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221D16"/>
            </a:solidFill>
          </p:spPr>
        </p:sp>
        <p:sp>
          <p:nvSpPr>
            <p:cNvPr id="5" name="TextBox 5"/>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grpSp>
        <p:nvGrpSpPr>
          <p:cNvPr id="6" name="Group 6"/>
          <p:cNvGrpSpPr/>
          <p:nvPr/>
        </p:nvGrpSpPr>
        <p:grpSpPr>
          <a:xfrm>
            <a:off x="10024293" y="2419559"/>
            <a:ext cx="8263707" cy="7867441"/>
            <a:chOff x="0" y="0"/>
            <a:chExt cx="2775752" cy="2082449"/>
          </a:xfrm>
        </p:grpSpPr>
        <p:sp>
          <p:nvSpPr>
            <p:cNvPr id="7" name="Freeform 7"/>
            <p:cNvSpPr/>
            <p:nvPr/>
          </p:nvSpPr>
          <p:spPr>
            <a:xfrm>
              <a:off x="0" y="0"/>
              <a:ext cx="2775752" cy="2082449"/>
            </a:xfrm>
            <a:custGeom>
              <a:avLst/>
              <a:gdLst/>
              <a:ahLst/>
              <a:cxnLst/>
              <a:rect l="l" t="t" r="r" b="b"/>
              <a:pathLst>
                <a:path w="2775752" h="2082449">
                  <a:moveTo>
                    <a:pt x="0" y="0"/>
                  </a:moveTo>
                  <a:lnTo>
                    <a:pt x="2775752" y="0"/>
                  </a:lnTo>
                  <a:lnTo>
                    <a:pt x="2775752" y="2082449"/>
                  </a:lnTo>
                  <a:lnTo>
                    <a:pt x="0" y="2082449"/>
                  </a:lnTo>
                  <a:close/>
                </a:path>
              </a:pathLst>
            </a:custGeom>
            <a:solidFill>
              <a:srgbClr val="000000">
                <a:alpha val="98824"/>
              </a:srgbClr>
            </a:solidFill>
          </p:spPr>
        </p:sp>
        <p:sp>
          <p:nvSpPr>
            <p:cNvPr id="8" name="TextBox 8"/>
            <p:cNvSpPr txBox="1"/>
            <p:nvPr/>
          </p:nvSpPr>
          <p:spPr>
            <a:xfrm>
              <a:off x="0" y="85725"/>
              <a:ext cx="2775752" cy="1996724"/>
            </a:xfrm>
            <a:prstGeom prst="rect">
              <a:avLst/>
            </a:prstGeom>
          </p:spPr>
          <p:txBody>
            <a:bodyPr lIns="50800" tIns="50800" rIns="50800" bIns="50800" rtlCol="0" anchor="ctr"/>
            <a:lstStyle/>
            <a:p>
              <a:pPr algn="ctr">
                <a:lnSpc>
                  <a:spcPts val="2149"/>
                </a:lnSpc>
              </a:pPr>
              <a:endParaRPr/>
            </a:p>
          </p:txBody>
        </p:sp>
      </p:grpSp>
      <p:sp>
        <p:nvSpPr>
          <p:cNvPr id="9" name="TextBox 9"/>
          <p:cNvSpPr txBox="1"/>
          <p:nvPr/>
        </p:nvSpPr>
        <p:spPr>
          <a:xfrm>
            <a:off x="10259030" y="1910654"/>
            <a:ext cx="7206833" cy="1882790"/>
          </a:xfrm>
          <a:prstGeom prst="rect">
            <a:avLst/>
          </a:prstGeom>
        </p:spPr>
        <p:txBody>
          <a:bodyPr lIns="0" tIns="0" rIns="0" bIns="0" rtlCol="0" anchor="t">
            <a:spAutoFit/>
          </a:bodyPr>
          <a:lstStyle/>
          <a:p>
            <a:pPr algn="l">
              <a:lnSpc>
                <a:spcPts val="15399"/>
              </a:lnSpc>
            </a:pPr>
            <a:r>
              <a:rPr lang="en-US" sz="10999" b="1">
                <a:solidFill>
                  <a:srgbClr val="E5D0A9"/>
                </a:solidFill>
                <a:latin typeface="Blinker Bold"/>
                <a:ea typeface="Blinker Bold"/>
                <a:cs typeface="Blinker Bold"/>
                <a:sym typeface="Blinker Bold"/>
              </a:rPr>
              <a:t>SOMMAIRE</a:t>
            </a:r>
          </a:p>
        </p:txBody>
      </p:sp>
      <p:sp>
        <p:nvSpPr>
          <p:cNvPr id="10" name="TextBox 10"/>
          <p:cNvSpPr txBox="1"/>
          <p:nvPr/>
        </p:nvSpPr>
        <p:spPr>
          <a:xfrm>
            <a:off x="10259030" y="4062828"/>
            <a:ext cx="7317446" cy="4563110"/>
          </a:xfrm>
          <a:prstGeom prst="rect">
            <a:avLst/>
          </a:prstGeom>
        </p:spPr>
        <p:txBody>
          <a:bodyPr lIns="0" tIns="0" rIns="0" bIns="0" rtlCol="0" anchor="t">
            <a:spAutoFit/>
          </a:bodyPr>
          <a:lstStyle/>
          <a:p>
            <a:pPr marL="561339" lvl="1" indent="-280669" algn="l">
              <a:lnSpc>
                <a:spcPts val="3639"/>
              </a:lnSpc>
              <a:buFont typeface="Arial"/>
              <a:buChar char="•"/>
            </a:pPr>
            <a:r>
              <a:rPr lang="en-US" sz="2599">
                <a:solidFill>
                  <a:srgbClr val="E5D0A9"/>
                </a:solidFill>
                <a:latin typeface="Blinker"/>
                <a:ea typeface="Blinker"/>
                <a:cs typeface="Blinker"/>
                <a:sym typeface="Blinker"/>
              </a:rPr>
              <a:t>Processus de création du tdb                                           5</a:t>
            </a:r>
          </a:p>
          <a:p>
            <a:pPr algn="l">
              <a:lnSpc>
                <a:spcPts val="3639"/>
              </a:lnSpc>
            </a:pPr>
            <a:endParaRPr lang="en-US" sz="2599">
              <a:solidFill>
                <a:srgbClr val="E5D0A9"/>
              </a:solidFill>
              <a:latin typeface="Blinker"/>
              <a:ea typeface="Blinker"/>
              <a:cs typeface="Blinker"/>
              <a:sym typeface="Blinker"/>
            </a:endParaRPr>
          </a:p>
          <a:p>
            <a:pPr marL="561339" lvl="1" indent="-280669" algn="l">
              <a:lnSpc>
                <a:spcPts val="3639"/>
              </a:lnSpc>
              <a:buFont typeface="Arial"/>
              <a:buChar char="•"/>
            </a:pPr>
            <a:r>
              <a:rPr lang="en-US" sz="2599">
                <a:solidFill>
                  <a:srgbClr val="E5D0A9"/>
                </a:solidFill>
                <a:latin typeface="Blinker"/>
                <a:ea typeface="Blinker"/>
                <a:cs typeface="Blinker"/>
                <a:sym typeface="Blinker"/>
              </a:rPr>
              <a:t>Blueprint                                                                                          6</a:t>
            </a:r>
          </a:p>
          <a:p>
            <a:pPr algn="l">
              <a:lnSpc>
                <a:spcPts val="3639"/>
              </a:lnSpc>
            </a:pPr>
            <a:endParaRPr lang="en-US" sz="2599">
              <a:solidFill>
                <a:srgbClr val="E5D0A9"/>
              </a:solidFill>
              <a:latin typeface="Blinker"/>
              <a:ea typeface="Blinker"/>
              <a:cs typeface="Blinker"/>
              <a:sym typeface="Blinker"/>
            </a:endParaRPr>
          </a:p>
          <a:p>
            <a:pPr marL="561339" lvl="1" indent="-280669" algn="l">
              <a:lnSpc>
                <a:spcPts val="3639"/>
              </a:lnSpc>
              <a:buFont typeface="Arial"/>
              <a:buChar char="•"/>
            </a:pPr>
            <a:r>
              <a:rPr lang="en-US" sz="2599">
                <a:solidFill>
                  <a:srgbClr val="E5D0A9"/>
                </a:solidFill>
                <a:latin typeface="Blinker"/>
                <a:ea typeface="Blinker"/>
                <a:cs typeface="Blinker"/>
                <a:sym typeface="Blinker"/>
              </a:rPr>
              <a:t>Pourquoi BI ?                                                                                  7</a:t>
            </a:r>
          </a:p>
          <a:p>
            <a:pPr algn="l">
              <a:lnSpc>
                <a:spcPts val="3639"/>
              </a:lnSpc>
            </a:pPr>
            <a:endParaRPr lang="en-US" sz="2599">
              <a:solidFill>
                <a:srgbClr val="E5D0A9"/>
              </a:solidFill>
              <a:latin typeface="Blinker"/>
              <a:ea typeface="Blinker"/>
              <a:cs typeface="Blinker"/>
              <a:sym typeface="Blinker"/>
            </a:endParaRPr>
          </a:p>
          <a:p>
            <a:pPr marL="561339" lvl="1" indent="-280669" algn="l">
              <a:lnSpc>
                <a:spcPts val="3639"/>
              </a:lnSpc>
              <a:buFont typeface="Arial"/>
              <a:buChar char="•"/>
            </a:pPr>
            <a:r>
              <a:rPr lang="en-US" sz="2599">
                <a:solidFill>
                  <a:srgbClr val="E5D0A9"/>
                </a:solidFill>
                <a:latin typeface="Blinker"/>
                <a:ea typeface="Blinker"/>
                <a:cs typeface="Blinker"/>
                <a:sym typeface="Blinker"/>
              </a:rPr>
              <a:t>Modèle en étoile                                                                         8</a:t>
            </a:r>
          </a:p>
          <a:p>
            <a:pPr algn="l">
              <a:lnSpc>
                <a:spcPts val="3639"/>
              </a:lnSpc>
            </a:pPr>
            <a:r>
              <a:rPr lang="en-US" sz="2599">
                <a:solidFill>
                  <a:srgbClr val="E5D0A9"/>
                </a:solidFill>
                <a:latin typeface="Blinker"/>
                <a:ea typeface="Blinker"/>
                <a:cs typeface="Blinker"/>
                <a:sym typeface="Blinker"/>
              </a:rPr>
              <a:t> </a:t>
            </a:r>
          </a:p>
          <a:p>
            <a:pPr marL="561339" lvl="1" indent="-280669" algn="l">
              <a:lnSpc>
                <a:spcPts val="3639"/>
              </a:lnSpc>
              <a:buFont typeface="Arial"/>
              <a:buChar char="•"/>
            </a:pPr>
            <a:r>
              <a:rPr lang="en-US" sz="2599">
                <a:solidFill>
                  <a:srgbClr val="E5D0A9"/>
                </a:solidFill>
                <a:latin typeface="Blinker"/>
                <a:ea typeface="Blinker"/>
                <a:cs typeface="Blinker"/>
                <a:sym typeface="Blinker"/>
              </a:rPr>
              <a:t>Visualisation et analyse                                                        9      </a:t>
            </a:r>
          </a:p>
          <a:p>
            <a:pPr algn="l">
              <a:lnSpc>
                <a:spcPts val="3639"/>
              </a:lnSpc>
            </a:pPr>
            <a:endParaRPr lang="en-US" sz="2599">
              <a:solidFill>
                <a:srgbClr val="E5D0A9"/>
              </a:solidFill>
              <a:latin typeface="Blinker"/>
              <a:ea typeface="Blinker"/>
              <a:cs typeface="Blinker"/>
              <a:sym typeface="Blinker"/>
            </a:endParaRPr>
          </a:p>
        </p:txBody>
      </p:sp>
      <p:sp>
        <p:nvSpPr>
          <p:cNvPr id="11" name="TextBox 11"/>
          <p:cNvSpPr txBox="1"/>
          <p:nvPr/>
        </p:nvSpPr>
        <p:spPr>
          <a:xfrm>
            <a:off x="257521" y="9798594"/>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E5D0A9"/>
                </a:solidFill>
                <a:latin typeface="Assistant"/>
                <a:ea typeface="Assistant"/>
                <a:cs typeface="Assistant"/>
                <a:sym typeface="Assistant"/>
              </a:rPr>
              <a:t>4</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E473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515042" cy="10287000"/>
            <a:chOff x="0" y="0"/>
            <a:chExt cx="135649" cy="2709333"/>
          </a:xfrm>
        </p:grpSpPr>
        <p:sp>
          <p:nvSpPr>
            <p:cNvPr id="3" name="Freeform 3"/>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E5D0A9"/>
            </a:solidFill>
          </p:spPr>
        </p:sp>
        <p:sp>
          <p:nvSpPr>
            <p:cNvPr id="4" name="TextBox 4"/>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grpSp>
        <p:nvGrpSpPr>
          <p:cNvPr id="5" name="Group 5"/>
          <p:cNvGrpSpPr/>
          <p:nvPr/>
        </p:nvGrpSpPr>
        <p:grpSpPr>
          <a:xfrm>
            <a:off x="835513" y="3584648"/>
            <a:ext cx="3070298" cy="2501429"/>
            <a:chOff x="0" y="0"/>
            <a:chExt cx="808638" cy="658813"/>
          </a:xfrm>
        </p:grpSpPr>
        <p:sp>
          <p:nvSpPr>
            <p:cNvPr id="6" name="Freeform 6"/>
            <p:cNvSpPr/>
            <p:nvPr/>
          </p:nvSpPr>
          <p:spPr>
            <a:xfrm>
              <a:off x="0" y="0"/>
              <a:ext cx="808638" cy="658813"/>
            </a:xfrm>
            <a:custGeom>
              <a:avLst/>
              <a:gdLst/>
              <a:ahLst/>
              <a:cxnLst/>
              <a:rect l="l" t="t" r="r" b="b"/>
              <a:pathLst>
                <a:path w="808638" h="658813">
                  <a:moveTo>
                    <a:pt x="128599" y="0"/>
                  </a:moveTo>
                  <a:lnTo>
                    <a:pt x="680039" y="0"/>
                  </a:lnTo>
                  <a:cubicBezTo>
                    <a:pt x="751062" y="0"/>
                    <a:pt x="808638" y="57576"/>
                    <a:pt x="808638" y="128599"/>
                  </a:cubicBezTo>
                  <a:lnTo>
                    <a:pt x="808638" y="530213"/>
                  </a:lnTo>
                  <a:cubicBezTo>
                    <a:pt x="808638" y="564320"/>
                    <a:pt x="795089" y="597030"/>
                    <a:pt x="770972" y="621147"/>
                  </a:cubicBezTo>
                  <a:cubicBezTo>
                    <a:pt x="746855" y="645264"/>
                    <a:pt x="714146" y="658813"/>
                    <a:pt x="680039" y="658813"/>
                  </a:cubicBezTo>
                  <a:lnTo>
                    <a:pt x="128599" y="658813"/>
                  </a:lnTo>
                  <a:cubicBezTo>
                    <a:pt x="57576" y="658813"/>
                    <a:pt x="0" y="601237"/>
                    <a:pt x="0" y="530213"/>
                  </a:cubicBezTo>
                  <a:lnTo>
                    <a:pt x="0" y="128599"/>
                  </a:lnTo>
                  <a:cubicBezTo>
                    <a:pt x="0" y="57576"/>
                    <a:pt x="57576" y="0"/>
                    <a:pt x="128599" y="0"/>
                  </a:cubicBezTo>
                  <a:close/>
                </a:path>
              </a:pathLst>
            </a:custGeom>
            <a:solidFill>
              <a:srgbClr val="F49619"/>
            </a:solidFill>
          </p:spPr>
        </p:sp>
        <p:sp>
          <p:nvSpPr>
            <p:cNvPr id="7" name="TextBox 7"/>
            <p:cNvSpPr txBox="1"/>
            <p:nvPr/>
          </p:nvSpPr>
          <p:spPr>
            <a:xfrm>
              <a:off x="0" y="104775"/>
              <a:ext cx="808638" cy="554038"/>
            </a:xfrm>
            <a:prstGeom prst="rect">
              <a:avLst/>
            </a:prstGeom>
          </p:spPr>
          <p:txBody>
            <a:bodyPr lIns="50800" tIns="50800" rIns="50800" bIns="50800" rtlCol="0" anchor="ctr"/>
            <a:lstStyle/>
            <a:p>
              <a:pPr algn="ctr">
                <a:lnSpc>
                  <a:spcPts val="2564"/>
                </a:lnSpc>
              </a:pPr>
              <a:r>
                <a:rPr lang="en-US" sz="3089">
                  <a:solidFill>
                    <a:srgbClr val="E5D0A9"/>
                  </a:solidFill>
                  <a:latin typeface="Blinker"/>
                  <a:ea typeface="Blinker"/>
                  <a:cs typeface="Blinker"/>
                  <a:sym typeface="Blinker"/>
                </a:rPr>
                <a:t>Cadrage et définition des objectifs</a:t>
              </a:r>
            </a:p>
          </p:txBody>
        </p:sp>
      </p:grpSp>
      <p:sp>
        <p:nvSpPr>
          <p:cNvPr id="8" name="TextBox 8"/>
          <p:cNvSpPr txBox="1"/>
          <p:nvPr/>
        </p:nvSpPr>
        <p:spPr>
          <a:xfrm>
            <a:off x="1401544" y="30594"/>
            <a:ext cx="15984171" cy="1526526"/>
          </a:xfrm>
          <a:prstGeom prst="rect">
            <a:avLst/>
          </a:prstGeom>
        </p:spPr>
        <p:txBody>
          <a:bodyPr lIns="0" tIns="0" rIns="0" bIns="0" rtlCol="0" anchor="t">
            <a:spAutoFit/>
          </a:bodyPr>
          <a:lstStyle/>
          <a:p>
            <a:pPr algn="ctr">
              <a:lnSpc>
                <a:spcPts val="12460"/>
              </a:lnSpc>
            </a:pPr>
            <a:r>
              <a:rPr lang="en-US" sz="8900" b="1">
                <a:solidFill>
                  <a:srgbClr val="E5D0A9"/>
                </a:solidFill>
                <a:latin typeface="Blinker Bold"/>
                <a:ea typeface="Blinker Bold"/>
                <a:cs typeface="Blinker Bold"/>
                <a:sym typeface="Blinker Bold"/>
              </a:rPr>
              <a:t>PROCESSUS DE CREATION DU TDB</a:t>
            </a:r>
          </a:p>
        </p:txBody>
      </p:sp>
      <p:grpSp>
        <p:nvGrpSpPr>
          <p:cNvPr id="9" name="Group 9"/>
          <p:cNvGrpSpPr/>
          <p:nvPr/>
        </p:nvGrpSpPr>
        <p:grpSpPr>
          <a:xfrm>
            <a:off x="4477311" y="3584648"/>
            <a:ext cx="3070298" cy="2501429"/>
            <a:chOff x="0" y="0"/>
            <a:chExt cx="808638" cy="658813"/>
          </a:xfrm>
        </p:grpSpPr>
        <p:sp>
          <p:nvSpPr>
            <p:cNvPr id="10" name="Freeform 10"/>
            <p:cNvSpPr/>
            <p:nvPr/>
          </p:nvSpPr>
          <p:spPr>
            <a:xfrm>
              <a:off x="0" y="0"/>
              <a:ext cx="808638" cy="658813"/>
            </a:xfrm>
            <a:custGeom>
              <a:avLst/>
              <a:gdLst/>
              <a:ahLst/>
              <a:cxnLst/>
              <a:rect l="l" t="t" r="r" b="b"/>
              <a:pathLst>
                <a:path w="808638" h="658813">
                  <a:moveTo>
                    <a:pt x="128599" y="0"/>
                  </a:moveTo>
                  <a:lnTo>
                    <a:pt x="680039" y="0"/>
                  </a:lnTo>
                  <a:cubicBezTo>
                    <a:pt x="751062" y="0"/>
                    <a:pt x="808638" y="57576"/>
                    <a:pt x="808638" y="128599"/>
                  </a:cubicBezTo>
                  <a:lnTo>
                    <a:pt x="808638" y="530213"/>
                  </a:lnTo>
                  <a:cubicBezTo>
                    <a:pt x="808638" y="564320"/>
                    <a:pt x="795089" y="597030"/>
                    <a:pt x="770972" y="621147"/>
                  </a:cubicBezTo>
                  <a:cubicBezTo>
                    <a:pt x="746855" y="645264"/>
                    <a:pt x="714146" y="658813"/>
                    <a:pt x="680039" y="658813"/>
                  </a:cubicBezTo>
                  <a:lnTo>
                    <a:pt x="128599" y="658813"/>
                  </a:lnTo>
                  <a:cubicBezTo>
                    <a:pt x="57576" y="658813"/>
                    <a:pt x="0" y="601237"/>
                    <a:pt x="0" y="530213"/>
                  </a:cubicBezTo>
                  <a:lnTo>
                    <a:pt x="0" y="128599"/>
                  </a:lnTo>
                  <a:cubicBezTo>
                    <a:pt x="0" y="57576"/>
                    <a:pt x="57576" y="0"/>
                    <a:pt x="128599" y="0"/>
                  </a:cubicBezTo>
                  <a:close/>
                </a:path>
              </a:pathLst>
            </a:custGeom>
            <a:solidFill>
              <a:srgbClr val="F49619"/>
            </a:solidFill>
          </p:spPr>
        </p:sp>
        <p:sp>
          <p:nvSpPr>
            <p:cNvPr id="11" name="TextBox 11"/>
            <p:cNvSpPr txBox="1"/>
            <p:nvPr/>
          </p:nvSpPr>
          <p:spPr>
            <a:xfrm>
              <a:off x="0" y="104775"/>
              <a:ext cx="808638" cy="554038"/>
            </a:xfrm>
            <a:prstGeom prst="rect">
              <a:avLst/>
            </a:prstGeom>
          </p:spPr>
          <p:txBody>
            <a:bodyPr lIns="50800" tIns="50800" rIns="50800" bIns="50800" rtlCol="0" anchor="ctr"/>
            <a:lstStyle/>
            <a:p>
              <a:pPr algn="ctr">
                <a:lnSpc>
                  <a:spcPts val="2564"/>
                </a:lnSpc>
              </a:pPr>
              <a:r>
                <a:rPr lang="en-US" sz="3089">
                  <a:solidFill>
                    <a:srgbClr val="E5D0A9"/>
                  </a:solidFill>
                  <a:latin typeface="Blinker"/>
                  <a:ea typeface="Blinker"/>
                  <a:cs typeface="Blinker"/>
                  <a:sym typeface="Blinker"/>
                </a:rPr>
                <a:t>Collecte et préparation des données</a:t>
              </a:r>
            </a:p>
          </p:txBody>
        </p:sp>
      </p:grpSp>
      <p:grpSp>
        <p:nvGrpSpPr>
          <p:cNvPr id="12" name="Group 12"/>
          <p:cNvGrpSpPr/>
          <p:nvPr/>
        </p:nvGrpSpPr>
        <p:grpSpPr>
          <a:xfrm>
            <a:off x="7925922" y="3584648"/>
            <a:ext cx="3070298" cy="2501429"/>
            <a:chOff x="0" y="0"/>
            <a:chExt cx="808638" cy="658813"/>
          </a:xfrm>
        </p:grpSpPr>
        <p:sp>
          <p:nvSpPr>
            <p:cNvPr id="13" name="Freeform 13"/>
            <p:cNvSpPr/>
            <p:nvPr/>
          </p:nvSpPr>
          <p:spPr>
            <a:xfrm>
              <a:off x="0" y="0"/>
              <a:ext cx="808638" cy="658813"/>
            </a:xfrm>
            <a:custGeom>
              <a:avLst/>
              <a:gdLst/>
              <a:ahLst/>
              <a:cxnLst/>
              <a:rect l="l" t="t" r="r" b="b"/>
              <a:pathLst>
                <a:path w="808638" h="658813">
                  <a:moveTo>
                    <a:pt x="128599" y="0"/>
                  </a:moveTo>
                  <a:lnTo>
                    <a:pt x="680039" y="0"/>
                  </a:lnTo>
                  <a:cubicBezTo>
                    <a:pt x="751062" y="0"/>
                    <a:pt x="808638" y="57576"/>
                    <a:pt x="808638" y="128599"/>
                  </a:cubicBezTo>
                  <a:lnTo>
                    <a:pt x="808638" y="530213"/>
                  </a:lnTo>
                  <a:cubicBezTo>
                    <a:pt x="808638" y="564320"/>
                    <a:pt x="795089" y="597030"/>
                    <a:pt x="770972" y="621147"/>
                  </a:cubicBezTo>
                  <a:cubicBezTo>
                    <a:pt x="746855" y="645264"/>
                    <a:pt x="714146" y="658813"/>
                    <a:pt x="680039" y="658813"/>
                  </a:cubicBezTo>
                  <a:lnTo>
                    <a:pt x="128599" y="658813"/>
                  </a:lnTo>
                  <a:cubicBezTo>
                    <a:pt x="57576" y="658813"/>
                    <a:pt x="0" y="601237"/>
                    <a:pt x="0" y="530213"/>
                  </a:cubicBezTo>
                  <a:lnTo>
                    <a:pt x="0" y="128599"/>
                  </a:lnTo>
                  <a:cubicBezTo>
                    <a:pt x="0" y="57576"/>
                    <a:pt x="57576" y="0"/>
                    <a:pt x="128599" y="0"/>
                  </a:cubicBezTo>
                  <a:close/>
                </a:path>
              </a:pathLst>
            </a:custGeom>
            <a:solidFill>
              <a:srgbClr val="F49619"/>
            </a:solidFill>
          </p:spPr>
        </p:sp>
        <p:sp>
          <p:nvSpPr>
            <p:cNvPr id="14" name="TextBox 14"/>
            <p:cNvSpPr txBox="1"/>
            <p:nvPr/>
          </p:nvSpPr>
          <p:spPr>
            <a:xfrm>
              <a:off x="0" y="104775"/>
              <a:ext cx="808638" cy="554038"/>
            </a:xfrm>
            <a:prstGeom prst="rect">
              <a:avLst/>
            </a:prstGeom>
          </p:spPr>
          <p:txBody>
            <a:bodyPr lIns="50800" tIns="50800" rIns="50800" bIns="50800" rtlCol="0" anchor="ctr"/>
            <a:lstStyle/>
            <a:p>
              <a:pPr algn="ctr">
                <a:lnSpc>
                  <a:spcPts val="2564"/>
                </a:lnSpc>
              </a:pPr>
              <a:r>
                <a:rPr lang="en-US" sz="3089">
                  <a:solidFill>
                    <a:srgbClr val="E5D0A9"/>
                  </a:solidFill>
                  <a:latin typeface="Blinker"/>
                  <a:ea typeface="Blinker"/>
                  <a:cs typeface="Blinker"/>
                  <a:sym typeface="Blinker"/>
                </a:rPr>
                <a:t>Choix méthodologiques et techniques</a:t>
              </a:r>
            </a:p>
          </p:txBody>
        </p:sp>
      </p:grpSp>
      <p:grpSp>
        <p:nvGrpSpPr>
          <p:cNvPr id="15" name="Group 15"/>
          <p:cNvGrpSpPr/>
          <p:nvPr/>
        </p:nvGrpSpPr>
        <p:grpSpPr>
          <a:xfrm>
            <a:off x="11567720" y="3584648"/>
            <a:ext cx="3070298" cy="2501429"/>
            <a:chOff x="0" y="0"/>
            <a:chExt cx="808638" cy="658813"/>
          </a:xfrm>
        </p:grpSpPr>
        <p:sp>
          <p:nvSpPr>
            <p:cNvPr id="16" name="Freeform 16"/>
            <p:cNvSpPr/>
            <p:nvPr/>
          </p:nvSpPr>
          <p:spPr>
            <a:xfrm>
              <a:off x="0" y="0"/>
              <a:ext cx="808638" cy="658813"/>
            </a:xfrm>
            <a:custGeom>
              <a:avLst/>
              <a:gdLst/>
              <a:ahLst/>
              <a:cxnLst/>
              <a:rect l="l" t="t" r="r" b="b"/>
              <a:pathLst>
                <a:path w="808638" h="658813">
                  <a:moveTo>
                    <a:pt x="128599" y="0"/>
                  </a:moveTo>
                  <a:lnTo>
                    <a:pt x="680039" y="0"/>
                  </a:lnTo>
                  <a:cubicBezTo>
                    <a:pt x="751062" y="0"/>
                    <a:pt x="808638" y="57576"/>
                    <a:pt x="808638" y="128599"/>
                  </a:cubicBezTo>
                  <a:lnTo>
                    <a:pt x="808638" y="530213"/>
                  </a:lnTo>
                  <a:cubicBezTo>
                    <a:pt x="808638" y="564320"/>
                    <a:pt x="795089" y="597030"/>
                    <a:pt x="770972" y="621147"/>
                  </a:cubicBezTo>
                  <a:cubicBezTo>
                    <a:pt x="746855" y="645264"/>
                    <a:pt x="714146" y="658813"/>
                    <a:pt x="680039" y="658813"/>
                  </a:cubicBezTo>
                  <a:lnTo>
                    <a:pt x="128599" y="658813"/>
                  </a:lnTo>
                  <a:cubicBezTo>
                    <a:pt x="57576" y="658813"/>
                    <a:pt x="0" y="601237"/>
                    <a:pt x="0" y="530213"/>
                  </a:cubicBezTo>
                  <a:lnTo>
                    <a:pt x="0" y="128599"/>
                  </a:lnTo>
                  <a:cubicBezTo>
                    <a:pt x="0" y="57576"/>
                    <a:pt x="57576" y="0"/>
                    <a:pt x="128599" y="0"/>
                  </a:cubicBezTo>
                  <a:close/>
                </a:path>
              </a:pathLst>
            </a:custGeom>
            <a:solidFill>
              <a:srgbClr val="F49619"/>
            </a:solidFill>
          </p:spPr>
        </p:sp>
        <p:sp>
          <p:nvSpPr>
            <p:cNvPr id="17" name="TextBox 17"/>
            <p:cNvSpPr txBox="1"/>
            <p:nvPr/>
          </p:nvSpPr>
          <p:spPr>
            <a:xfrm>
              <a:off x="0" y="104775"/>
              <a:ext cx="808638" cy="554038"/>
            </a:xfrm>
            <a:prstGeom prst="rect">
              <a:avLst/>
            </a:prstGeom>
          </p:spPr>
          <p:txBody>
            <a:bodyPr lIns="50800" tIns="50800" rIns="50800" bIns="50800" rtlCol="0" anchor="ctr"/>
            <a:lstStyle/>
            <a:p>
              <a:pPr algn="ctr">
                <a:lnSpc>
                  <a:spcPts val="2564"/>
                </a:lnSpc>
              </a:pPr>
              <a:r>
                <a:rPr lang="en-US" sz="3089">
                  <a:solidFill>
                    <a:srgbClr val="E5D0A9"/>
                  </a:solidFill>
                  <a:latin typeface="Blinker"/>
                  <a:ea typeface="Blinker"/>
                  <a:cs typeface="Blinker"/>
                  <a:sym typeface="Blinker"/>
                </a:rPr>
                <a:t>Conception visuelle et optimisation</a:t>
              </a:r>
            </a:p>
          </p:txBody>
        </p:sp>
      </p:grpSp>
      <p:grpSp>
        <p:nvGrpSpPr>
          <p:cNvPr id="18" name="Group 18"/>
          <p:cNvGrpSpPr/>
          <p:nvPr/>
        </p:nvGrpSpPr>
        <p:grpSpPr>
          <a:xfrm>
            <a:off x="15114706" y="3584648"/>
            <a:ext cx="3070298" cy="2501429"/>
            <a:chOff x="0" y="0"/>
            <a:chExt cx="808638" cy="658813"/>
          </a:xfrm>
        </p:grpSpPr>
        <p:sp>
          <p:nvSpPr>
            <p:cNvPr id="19" name="Freeform 19"/>
            <p:cNvSpPr/>
            <p:nvPr/>
          </p:nvSpPr>
          <p:spPr>
            <a:xfrm>
              <a:off x="0" y="0"/>
              <a:ext cx="808638" cy="658813"/>
            </a:xfrm>
            <a:custGeom>
              <a:avLst/>
              <a:gdLst/>
              <a:ahLst/>
              <a:cxnLst/>
              <a:rect l="l" t="t" r="r" b="b"/>
              <a:pathLst>
                <a:path w="808638" h="658813">
                  <a:moveTo>
                    <a:pt x="128599" y="0"/>
                  </a:moveTo>
                  <a:lnTo>
                    <a:pt x="680039" y="0"/>
                  </a:lnTo>
                  <a:cubicBezTo>
                    <a:pt x="751062" y="0"/>
                    <a:pt x="808638" y="57576"/>
                    <a:pt x="808638" y="128599"/>
                  </a:cubicBezTo>
                  <a:lnTo>
                    <a:pt x="808638" y="530213"/>
                  </a:lnTo>
                  <a:cubicBezTo>
                    <a:pt x="808638" y="564320"/>
                    <a:pt x="795089" y="597030"/>
                    <a:pt x="770972" y="621147"/>
                  </a:cubicBezTo>
                  <a:cubicBezTo>
                    <a:pt x="746855" y="645264"/>
                    <a:pt x="714146" y="658813"/>
                    <a:pt x="680039" y="658813"/>
                  </a:cubicBezTo>
                  <a:lnTo>
                    <a:pt x="128599" y="658813"/>
                  </a:lnTo>
                  <a:cubicBezTo>
                    <a:pt x="57576" y="658813"/>
                    <a:pt x="0" y="601237"/>
                    <a:pt x="0" y="530213"/>
                  </a:cubicBezTo>
                  <a:lnTo>
                    <a:pt x="0" y="128599"/>
                  </a:lnTo>
                  <a:cubicBezTo>
                    <a:pt x="0" y="57576"/>
                    <a:pt x="57576" y="0"/>
                    <a:pt x="128599" y="0"/>
                  </a:cubicBezTo>
                  <a:close/>
                </a:path>
              </a:pathLst>
            </a:custGeom>
            <a:solidFill>
              <a:srgbClr val="F49619"/>
            </a:solidFill>
          </p:spPr>
        </p:sp>
        <p:sp>
          <p:nvSpPr>
            <p:cNvPr id="20" name="TextBox 20"/>
            <p:cNvSpPr txBox="1"/>
            <p:nvPr/>
          </p:nvSpPr>
          <p:spPr>
            <a:xfrm>
              <a:off x="0" y="104775"/>
              <a:ext cx="808638" cy="554038"/>
            </a:xfrm>
            <a:prstGeom prst="rect">
              <a:avLst/>
            </a:prstGeom>
          </p:spPr>
          <p:txBody>
            <a:bodyPr lIns="50800" tIns="50800" rIns="50800" bIns="50800" rtlCol="0" anchor="ctr"/>
            <a:lstStyle/>
            <a:p>
              <a:pPr algn="ctr">
                <a:lnSpc>
                  <a:spcPts val="2564"/>
                </a:lnSpc>
              </a:pPr>
              <a:r>
                <a:rPr lang="en-US" sz="3089">
                  <a:solidFill>
                    <a:srgbClr val="E5D0A9"/>
                  </a:solidFill>
                  <a:latin typeface="Blinker"/>
                  <a:ea typeface="Blinker"/>
                  <a:cs typeface="Blinker"/>
                  <a:sym typeface="Blinker"/>
                </a:rPr>
                <a:t>Présentation</a:t>
              </a:r>
            </a:p>
          </p:txBody>
        </p:sp>
      </p:grpSp>
      <p:sp>
        <p:nvSpPr>
          <p:cNvPr id="21" name="AutoShape 21"/>
          <p:cNvSpPr/>
          <p:nvPr/>
        </p:nvSpPr>
        <p:spPr>
          <a:xfrm>
            <a:off x="2188397" y="7845627"/>
            <a:ext cx="14267001" cy="0"/>
          </a:xfrm>
          <a:prstGeom prst="line">
            <a:avLst/>
          </a:prstGeom>
          <a:ln w="38100" cap="flat">
            <a:solidFill>
              <a:srgbClr val="E5D0A9"/>
            </a:solidFill>
            <a:prstDash val="sysDot"/>
            <a:headEnd type="none" w="sm" len="sm"/>
            <a:tailEnd type="arrow" w="med" len="sm"/>
          </a:ln>
        </p:spPr>
      </p:sp>
      <p:sp>
        <p:nvSpPr>
          <p:cNvPr id="22" name="TextBox 22"/>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E5D0A9"/>
                </a:solidFill>
                <a:latin typeface="Assistant"/>
                <a:ea typeface="Assistant"/>
                <a:cs typeface="Assistant"/>
                <a:sym typeface="Assistant"/>
              </a:rPr>
              <a:t>5</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21D1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515042" cy="10287000"/>
            <a:chOff x="0" y="0"/>
            <a:chExt cx="135649" cy="2709333"/>
          </a:xfrm>
        </p:grpSpPr>
        <p:sp>
          <p:nvSpPr>
            <p:cNvPr id="3" name="Freeform 3"/>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E5D0A9"/>
            </a:solidFill>
          </p:spPr>
        </p:sp>
        <p:sp>
          <p:nvSpPr>
            <p:cNvPr id="4" name="TextBox 4"/>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sp>
        <p:nvSpPr>
          <p:cNvPr id="5" name="Freeform 5"/>
          <p:cNvSpPr/>
          <p:nvPr/>
        </p:nvSpPr>
        <p:spPr>
          <a:xfrm>
            <a:off x="1788416" y="2534258"/>
            <a:ext cx="7355584" cy="6446827"/>
          </a:xfrm>
          <a:custGeom>
            <a:avLst/>
            <a:gdLst/>
            <a:ahLst/>
            <a:cxnLst/>
            <a:rect l="l" t="t" r="r" b="b"/>
            <a:pathLst>
              <a:path w="7355584" h="6446827">
                <a:moveTo>
                  <a:pt x="0" y="0"/>
                </a:moveTo>
                <a:lnTo>
                  <a:pt x="7355584" y="0"/>
                </a:lnTo>
                <a:lnTo>
                  <a:pt x="7355584" y="6446827"/>
                </a:lnTo>
                <a:lnTo>
                  <a:pt x="0" y="6446827"/>
                </a:lnTo>
                <a:lnTo>
                  <a:pt x="0" y="0"/>
                </a:lnTo>
                <a:close/>
              </a:path>
            </a:pathLst>
          </a:custGeom>
          <a:blipFill>
            <a:blip r:embed="rId2"/>
            <a:stretch>
              <a:fillRect/>
            </a:stretch>
          </a:blipFill>
        </p:spPr>
      </p:sp>
      <p:sp>
        <p:nvSpPr>
          <p:cNvPr id="6" name="Freeform 6"/>
          <p:cNvSpPr/>
          <p:nvPr/>
        </p:nvSpPr>
        <p:spPr>
          <a:xfrm>
            <a:off x="10497985" y="2534258"/>
            <a:ext cx="5287798" cy="6446827"/>
          </a:xfrm>
          <a:custGeom>
            <a:avLst/>
            <a:gdLst/>
            <a:ahLst/>
            <a:cxnLst/>
            <a:rect l="l" t="t" r="r" b="b"/>
            <a:pathLst>
              <a:path w="5287798" h="6446827">
                <a:moveTo>
                  <a:pt x="0" y="0"/>
                </a:moveTo>
                <a:lnTo>
                  <a:pt x="5287798" y="0"/>
                </a:lnTo>
                <a:lnTo>
                  <a:pt x="5287798" y="6446827"/>
                </a:lnTo>
                <a:lnTo>
                  <a:pt x="0" y="6446827"/>
                </a:lnTo>
                <a:lnTo>
                  <a:pt x="0" y="0"/>
                </a:lnTo>
                <a:close/>
              </a:path>
            </a:pathLst>
          </a:custGeom>
          <a:blipFill>
            <a:blip r:embed="rId3"/>
            <a:stretch>
              <a:fillRect l="-2961" t="-153" r="-272"/>
            </a:stretch>
          </a:blipFill>
        </p:spPr>
      </p:sp>
      <p:sp>
        <p:nvSpPr>
          <p:cNvPr id="7" name="TextBox 7"/>
          <p:cNvSpPr txBox="1"/>
          <p:nvPr/>
        </p:nvSpPr>
        <p:spPr>
          <a:xfrm>
            <a:off x="3461789" y="-17467"/>
            <a:ext cx="11554045" cy="1882784"/>
          </a:xfrm>
          <a:prstGeom prst="rect">
            <a:avLst/>
          </a:prstGeom>
        </p:spPr>
        <p:txBody>
          <a:bodyPr lIns="0" tIns="0" rIns="0" bIns="0" rtlCol="0" anchor="t">
            <a:spAutoFit/>
          </a:bodyPr>
          <a:lstStyle/>
          <a:p>
            <a:pPr algn="ctr">
              <a:lnSpc>
                <a:spcPts val="15399"/>
              </a:lnSpc>
            </a:pPr>
            <a:r>
              <a:rPr lang="en-US" sz="10999" b="1">
                <a:solidFill>
                  <a:srgbClr val="E5D0A9"/>
                </a:solidFill>
                <a:latin typeface="Blinker Bold"/>
                <a:ea typeface="Blinker Bold"/>
                <a:cs typeface="Blinker Bold"/>
                <a:sym typeface="Blinker Bold"/>
              </a:rPr>
              <a:t>BLUEPRINT</a:t>
            </a:r>
          </a:p>
        </p:txBody>
      </p:sp>
      <p:sp>
        <p:nvSpPr>
          <p:cNvPr id="8" name="TextBox 8"/>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E5D0A9"/>
                </a:solidFill>
                <a:latin typeface="Assistant"/>
                <a:ea typeface="Assistant"/>
                <a:cs typeface="Assistant"/>
                <a:sym typeface="Assistant"/>
              </a:rPr>
              <a:t>6</a:t>
            </a: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1D1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515042" cy="10287000"/>
            <a:chOff x="0" y="0"/>
            <a:chExt cx="135649" cy="2709333"/>
          </a:xfrm>
        </p:grpSpPr>
        <p:sp>
          <p:nvSpPr>
            <p:cNvPr id="3" name="Freeform 3"/>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E5D0A9"/>
            </a:solidFill>
          </p:spPr>
        </p:sp>
        <p:sp>
          <p:nvSpPr>
            <p:cNvPr id="4" name="TextBox 4"/>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sp>
        <p:nvSpPr>
          <p:cNvPr id="5" name="TextBox 5"/>
          <p:cNvSpPr txBox="1"/>
          <p:nvPr/>
        </p:nvSpPr>
        <p:spPr>
          <a:xfrm>
            <a:off x="4063272" y="1205502"/>
            <a:ext cx="10161456" cy="1882790"/>
          </a:xfrm>
          <a:prstGeom prst="rect">
            <a:avLst/>
          </a:prstGeom>
        </p:spPr>
        <p:txBody>
          <a:bodyPr lIns="0" tIns="0" rIns="0" bIns="0" rtlCol="0" anchor="t">
            <a:spAutoFit/>
          </a:bodyPr>
          <a:lstStyle/>
          <a:p>
            <a:pPr algn="ctr">
              <a:lnSpc>
                <a:spcPts val="15399"/>
              </a:lnSpc>
            </a:pPr>
            <a:r>
              <a:rPr lang="en-US" sz="10999" b="1">
                <a:solidFill>
                  <a:srgbClr val="E5D0A9"/>
                </a:solidFill>
                <a:latin typeface="Blinker Bold"/>
                <a:ea typeface="Blinker Bold"/>
                <a:cs typeface="Blinker Bold"/>
                <a:sym typeface="Blinker Bold"/>
              </a:rPr>
              <a:t>POURQUOI BI ?</a:t>
            </a:r>
          </a:p>
        </p:txBody>
      </p:sp>
      <p:grpSp>
        <p:nvGrpSpPr>
          <p:cNvPr id="6" name="Group 6"/>
          <p:cNvGrpSpPr/>
          <p:nvPr/>
        </p:nvGrpSpPr>
        <p:grpSpPr>
          <a:xfrm>
            <a:off x="1082433" y="3740754"/>
            <a:ext cx="2059754" cy="2059754"/>
            <a:chOff x="0" y="0"/>
            <a:chExt cx="542487" cy="542487"/>
          </a:xfrm>
        </p:grpSpPr>
        <p:sp>
          <p:nvSpPr>
            <p:cNvPr id="7" name="Freeform 7"/>
            <p:cNvSpPr/>
            <p:nvPr/>
          </p:nvSpPr>
          <p:spPr>
            <a:xfrm>
              <a:off x="0" y="0"/>
              <a:ext cx="542487" cy="542487"/>
            </a:xfrm>
            <a:custGeom>
              <a:avLst/>
              <a:gdLst/>
              <a:ahLst/>
              <a:cxnLst/>
              <a:rect l="l" t="t" r="r" b="b"/>
              <a:pathLst>
                <a:path w="542487" h="542487">
                  <a:moveTo>
                    <a:pt x="191692" y="0"/>
                  </a:moveTo>
                  <a:lnTo>
                    <a:pt x="350795" y="0"/>
                  </a:lnTo>
                  <a:cubicBezTo>
                    <a:pt x="401635" y="0"/>
                    <a:pt x="450392" y="20196"/>
                    <a:pt x="486341" y="56145"/>
                  </a:cubicBezTo>
                  <a:cubicBezTo>
                    <a:pt x="522291" y="92094"/>
                    <a:pt x="542487" y="140852"/>
                    <a:pt x="542487" y="191692"/>
                  </a:cubicBezTo>
                  <a:lnTo>
                    <a:pt x="542487" y="350795"/>
                  </a:lnTo>
                  <a:cubicBezTo>
                    <a:pt x="542487" y="401635"/>
                    <a:pt x="522291" y="450392"/>
                    <a:pt x="486341" y="486341"/>
                  </a:cubicBezTo>
                  <a:cubicBezTo>
                    <a:pt x="450392" y="522291"/>
                    <a:pt x="401635" y="542487"/>
                    <a:pt x="350795" y="542487"/>
                  </a:cubicBezTo>
                  <a:lnTo>
                    <a:pt x="191692" y="542487"/>
                  </a:lnTo>
                  <a:cubicBezTo>
                    <a:pt x="140852" y="542487"/>
                    <a:pt x="92094" y="522291"/>
                    <a:pt x="56145" y="486341"/>
                  </a:cubicBezTo>
                  <a:cubicBezTo>
                    <a:pt x="20196" y="450392"/>
                    <a:pt x="0" y="401635"/>
                    <a:pt x="0" y="350795"/>
                  </a:cubicBezTo>
                  <a:lnTo>
                    <a:pt x="0" y="191692"/>
                  </a:lnTo>
                  <a:cubicBezTo>
                    <a:pt x="0" y="140852"/>
                    <a:pt x="20196" y="92094"/>
                    <a:pt x="56145" y="56145"/>
                  </a:cubicBezTo>
                  <a:cubicBezTo>
                    <a:pt x="92094" y="20196"/>
                    <a:pt x="140852" y="0"/>
                    <a:pt x="191692" y="0"/>
                  </a:cubicBezTo>
                  <a:close/>
                </a:path>
              </a:pathLst>
            </a:custGeom>
            <a:solidFill>
              <a:srgbClr val="000000">
                <a:alpha val="0"/>
              </a:srgbClr>
            </a:solidFill>
            <a:ln w="104775" cap="rnd">
              <a:solidFill>
                <a:srgbClr val="E5D0A9"/>
              </a:solidFill>
              <a:prstDash val="solid"/>
              <a:round/>
            </a:ln>
          </p:spPr>
        </p:sp>
        <p:sp>
          <p:nvSpPr>
            <p:cNvPr id="8" name="TextBox 8"/>
            <p:cNvSpPr txBox="1"/>
            <p:nvPr/>
          </p:nvSpPr>
          <p:spPr>
            <a:xfrm>
              <a:off x="0" y="85725"/>
              <a:ext cx="542487" cy="456762"/>
            </a:xfrm>
            <a:prstGeom prst="rect">
              <a:avLst/>
            </a:prstGeom>
          </p:spPr>
          <p:txBody>
            <a:bodyPr lIns="50800" tIns="50800" rIns="50800" bIns="50800" rtlCol="0" anchor="ctr"/>
            <a:lstStyle/>
            <a:p>
              <a:pPr algn="l">
                <a:lnSpc>
                  <a:spcPts val="2149"/>
                </a:lnSpc>
              </a:pPr>
              <a:endParaRPr/>
            </a:p>
          </p:txBody>
        </p:sp>
      </p:grpSp>
      <p:sp>
        <p:nvSpPr>
          <p:cNvPr id="9" name="TextBox 9"/>
          <p:cNvSpPr txBox="1"/>
          <p:nvPr/>
        </p:nvSpPr>
        <p:spPr>
          <a:xfrm>
            <a:off x="3381665" y="3815345"/>
            <a:ext cx="2941414" cy="1758950"/>
          </a:xfrm>
          <a:prstGeom prst="rect">
            <a:avLst/>
          </a:prstGeom>
        </p:spPr>
        <p:txBody>
          <a:bodyPr lIns="0" tIns="0" rIns="0" bIns="0" rtlCol="0" anchor="t">
            <a:spAutoFit/>
          </a:bodyPr>
          <a:lstStyle/>
          <a:p>
            <a:pPr algn="l">
              <a:lnSpc>
                <a:spcPts val="2800"/>
              </a:lnSpc>
            </a:pPr>
            <a:r>
              <a:rPr lang="en-US" sz="2000" b="1">
                <a:solidFill>
                  <a:srgbClr val="F49619"/>
                </a:solidFill>
                <a:latin typeface="Blinker Bold"/>
                <a:ea typeface="Blinker Bold"/>
                <a:cs typeface="Blinker Bold"/>
                <a:sym typeface="Blinker Bold"/>
              </a:rPr>
              <a:t>Coût économique :</a:t>
            </a:r>
            <a:r>
              <a:rPr lang="en-US" sz="2000">
                <a:solidFill>
                  <a:srgbClr val="E5D0A9"/>
                </a:solidFill>
                <a:latin typeface="Blinker"/>
                <a:ea typeface="Blinker"/>
                <a:cs typeface="Blinker"/>
                <a:sym typeface="Blinker"/>
              </a:rPr>
              <a:t> utilisation de la version gratuite, sans surcoût logiciel.</a:t>
            </a:r>
          </a:p>
          <a:p>
            <a:pPr algn="l">
              <a:lnSpc>
                <a:spcPts val="2800"/>
              </a:lnSpc>
            </a:pPr>
            <a:endParaRPr lang="en-US" sz="2000">
              <a:solidFill>
                <a:srgbClr val="E5D0A9"/>
              </a:solidFill>
              <a:latin typeface="Blinker"/>
              <a:ea typeface="Blinker"/>
              <a:cs typeface="Blinker"/>
              <a:sym typeface="Blinker"/>
            </a:endParaRPr>
          </a:p>
        </p:txBody>
      </p:sp>
      <p:grpSp>
        <p:nvGrpSpPr>
          <p:cNvPr id="10" name="Group 10"/>
          <p:cNvGrpSpPr/>
          <p:nvPr/>
        </p:nvGrpSpPr>
        <p:grpSpPr>
          <a:xfrm>
            <a:off x="6618354" y="3740754"/>
            <a:ext cx="2059754" cy="2059754"/>
            <a:chOff x="0" y="0"/>
            <a:chExt cx="542487" cy="542487"/>
          </a:xfrm>
        </p:grpSpPr>
        <p:sp>
          <p:nvSpPr>
            <p:cNvPr id="11" name="Freeform 11"/>
            <p:cNvSpPr/>
            <p:nvPr/>
          </p:nvSpPr>
          <p:spPr>
            <a:xfrm>
              <a:off x="0" y="0"/>
              <a:ext cx="542487" cy="542487"/>
            </a:xfrm>
            <a:custGeom>
              <a:avLst/>
              <a:gdLst/>
              <a:ahLst/>
              <a:cxnLst/>
              <a:rect l="l" t="t" r="r" b="b"/>
              <a:pathLst>
                <a:path w="542487" h="542487">
                  <a:moveTo>
                    <a:pt x="191692" y="0"/>
                  </a:moveTo>
                  <a:lnTo>
                    <a:pt x="350795" y="0"/>
                  </a:lnTo>
                  <a:cubicBezTo>
                    <a:pt x="401635" y="0"/>
                    <a:pt x="450392" y="20196"/>
                    <a:pt x="486341" y="56145"/>
                  </a:cubicBezTo>
                  <a:cubicBezTo>
                    <a:pt x="522291" y="92094"/>
                    <a:pt x="542487" y="140852"/>
                    <a:pt x="542487" y="191692"/>
                  </a:cubicBezTo>
                  <a:lnTo>
                    <a:pt x="542487" y="350795"/>
                  </a:lnTo>
                  <a:cubicBezTo>
                    <a:pt x="542487" y="401635"/>
                    <a:pt x="522291" y="450392"/>
                    <a:pt x="486341" y="486341"/>
                  </a:cubicBezTo>
                  <a:cubicBezTo>
                    <a:pt x="450392" y="522291"/>
                    <a:pt x="401635" y="542487"/>
                    <a:pt x="350795" y="542487"/>
                  </a:cubicBezTo>
                  <a:lnTo>
                    <a:pt x="191692" y="542487"/>
                  </a:lnTo>
                  <a:cubicBezTo>
                    <a:pt x="140852" y="542487"/>
                    <a:pt x="92094" y="522291"/>
                    <a:pt x="56145" y="486341"/>
                  </a:cubicBezTo>
                  <a:cubicBezTo>
                    <a:pt x="20196" y="450392"/>
                    <a:pt x="0" y="401635"/>
                    <a:pt x="0" y="350795"/>
                  </a:cubicBezTo>
                  <a:lnTo>
                    <a:pt x="0" y="191692"/>
                  </a:lnTo>
                  <a:cubicBezTo>
                    <a:pt x="0" y="140852"/>
                    <a:pt x="20196" y="92094"/>
                    <a:pt x="56145" y="56145"/>
                  </a:cubicBezTo>
                  <a:cubicBezTo>
                    <a:pt x="92094" y="20196"/>
                    <a:pt x="140852" y="0"/>
                    <a:pt x="191692" y="0"/>
                  </a:cubicBezTo>
                  <a:close/>
                </a:path>
              </a:pathLst>
            </a:custGeom>
            <a:solidFill>
              <a:srgbClr val="000000">
                <a:alpha val="0"/>
              </a:srgbClr>
            </a:solidFill>
            <a:ln w="104775" cap="rnd">
              <a:solidFill>
                <a:srgbClr val="E5D0A9"/>
              </a:solidFill>
              <a:prstDash val="solid"/>
              <a:round/>
            </a:ln>
          </p:spPr>
        </p:sp>
        <p:sp>
          <p:nvSpPr>
            <p:cNvPr id="12" name="TextBox 12"/>
            <p:cNvSpPr txBox="1"/>
            <p:nvPr/>
          </p:nvSpPr>
          <p:spPr>
            <a:xfrm>
              <a:off x="0" y="85725"/>
              <a:ext cx="542487" cy="456762"/>
            </a:xfrm>
            <a:prstGeom prst="rect">
              <a:avLst/>
            </a:prstGeom>
          </p:spPr>
          <p:txBody>
            <a:bodyPr lIns="50800" tIns="50800" rIns="50800" bIns="50800" rtlCol="0" anchor="ctr"/>
            <a:lstStyle/>
            <a:p>
              <a:pPr algn="ctr">
                <a:lnSpc>
                  <a:spcPts val="2149"/>
                </a:lnSpc>
              </a:pPr>
              <a:endParaRPr/>
            </a:p>
          </p:txBody>
        </p:sp>
      </p:grpSp>
      <p:grpSp>
        <p:nvGrpSpPr>
          <p:cNvPr id="13" name="Group 13"/>
          <p:cNvGrpSpPr/>
          <p:nvPr/>
        </p:nvGrpSpPr>
        <p:grpSpPr>
          <a:xfrm>
            <a:off x="12154275" y="3740754"/>
            <a:ext cx="2059754" cy="2059754"/>
            <a:chOff x="0" y="0"/>
            <a:chExt cx="542487" cy="542487"/>
          </a:xfrm>
        </p:grpSpPr>
        <p:sp>
          <p:nvSpPr>
            <p:cNvPr id="14" name="Freeform 14"/>
            <p:cNvSpPr/>
            <p:nvPr/>
          </p:nvSpPr>
          <p:spPr>
            <a:xfrm>
              <a:off x="0" y="0"/>
              <a:ext cx="542487" cy="542487"/>
            </a:xfrm>
            <a:custGeom>
              <a:avLst/>
              <a:gdLst/>
              <a:ahLst/>
              <a:cxnLst/>
              <a:rect l="l" t="t" r="r" b="b"/>
              <a:pathLst>
                <a:path w="542487" h="542487">
                  <a:moveTo>
                    <a:pt x="191692" y="0"/>
                  </a:moveTo>
                  <a:lnTo>
                    <a:pt x="350795" y="0"/>
                  </a:lnTo>
                  <a:cubicBezTo>
                    <a:pt x="401635" y="0"/>
                    <a:pt x="450392" y="20196"/>
                    <a:pt x="486341" y="56145"/>
                  </a:cubicBezTo>
                  <a:cubicBezTo>
                    <a:pt x="522291" y="92094"/>
                    <a:pt x="542487" y="140852"/>
                    <a:pt x="542487" y="191692"/>
                  </a:cubicBezTo>
                  <a:lnTo>
                    <a:pt x="542487" y="350795"/>
                  </a:lnTo>
                  <a:cubicBezTo>
                    <a:pt x="542487" y="401635"/>
                    <a:pt x="522291" y="450392"/>
                    <a:pt x="486341" y="486341"/>
                  </a:cubicBezTo>
                  <a:cubicBezTo>
                    <a:pt x="450392" y="522291"/>
                    <a:pt x="401635" y="542487"/>
                    <a:pt x="350795" y="542487"/>
                  </a:cubicBezTo>
                  <a:lnTo>
                    <a:pt x="191692" y="542487"/>
                  </a:lnTo>
                  <a:cubicBezTo>
                    <a:pt x="140852" y="542487"/>
                    <a:pt x="92094" y="522291"/>
                    <a:pt x="56145" y="486341"/>
                  </a:cubicBezTo>
                  <a:cubicBezTo>
                    <a:pt x="20196" y="450392"/>
                    <a:pt x="0" y="401635"/>
                    <a:pt x="0" y="350795"/>
                  </a:cubicBezTo>
                  <a:lnTo>
                    <a:pt x="0" y="191692"/>
                  </a:lnTo>
                  <a:cubicBezTo>
                    <a:pt x="0" y="140852"/>
                    <a:pt x="20196" y="92094"/>
                    <a:pt x="56145" y="56145"/>
                  </a:cubicBezTo>
                  <a:cubicBezTo>
                    <a:pt x="92094" y="20196"/>
                    <a:pt x="140852" y="0"/>
                    <a:pt x="191692" y="0"/>
                  </a:cubicBezTo>
                  <a:close/>
                </a:path>
              </a:pathLst>
            </a:custGeom>
            <a:solidFill>
              <a:srgbClr val="000000">
                <a:alpha val="0"/>
              </a:srgbClr>
            </a:solidFill>
            <a:ln w="104775" cap="rnd">
              <a:solidFill>
                <a:srgbClr val="E5D0A9"/>
              </a:solidFill>
              <a:prstDash val="solid"/>
              <a:round/>
            </a:ln>
          </p:spPr>
        </p:sp>
        <p:sp>
          <p:nvSpPr>
            <p:cNvPr id="15" name="TextBox 15"/>
            <p:cNvSpPr txBox="1"/>
            <p:nvPr/>
          </p:nvSpPr>
          <p:spPr>
            <a:xfrm>
              <a:off x="0" y="85725"/>
              <a:ext cx="542487" cy="456762"/>
            </a:xfrm>
            <a:prstGeom prst="rect">
              <a:avLst/>
            </a:prstGeom>
          </p:spPr>
          <p:txBody>
            <a:bodyPr lIns="50800" tIns="50800" rIns="50800" bIns="50800" rtlCol="0" anchor="ctr"/>
            <a:lstStyle/>
            <a:p>
              <a:pPr algn="ctr">
                <a:lnSpc>
                  <a:spcPts val="2149"/>
                </a:lnSpc>
              </a:pPr>
              <a:endParaRPr/>
            </a:p>
          </p:txBody>
        </p:sp>
      </p:grpSp>
      <p:grpSp>
        <p:nvGrpSpPr>
          <p:cNvPr id="16" name="Group 16"/>
          <p:cNvGrpSpPr/>
          <p:nvPr/>
        </p:nvGrpSpPr>
        <p:grpSpPr>
          <a:xfrm>
            <a:off x="1082433" y="6572033"/>
            <a:ext cx="2059754" cy="2059754"/>
            <a:chOff x="0" y="0"/>
            <a:chExt cx="542487" cy="542487"/>
          </a:xfrm>
        </p:grpSpPr>
        <p:sp>
          <p:nvSpPr>
            <p:cNvPr id="17" name="Freeform 17"/>
            <p:cNvSpPr/>
            <p:nvPr/>
          </p:nvSpPr>
          <p:spPr>
            <a:xfrm>
              <a:off x="0" y="0"/>
              <a:ext cx="542487" cy="542487"/>
            </a:xfrm>
            <a:custGeom>
              <a:avLst/>
              <a:gdLst/>
              <a:ahLst/>
              <a:cxnLst/>
              <a:rect l="l" t="t" r="r" b="b"/>
              <a:pathLst>
                <a:path w="542487" h="542487">
                  <a:moveTo>
                    <a:pt x="191692" y="0"/>
                  </a:moveTo>
                  <a:lnTo>
                    <a:pt x="350795" y="0"/>
                  </a:lnTo>
                  <a:cubicBezTo>
                    <a:pt x="401635" y="0"/>
                    <a:pt x="450392" y="20196"/>
                    <a:pt x="486341" y="56145"/>
                  </a:cubicBezTo>
                  <a:cubicBezTo>
                    <a:pt x="522291" y="92094"/>
                    <a:pt x="542487" y="140852"/>
                    <a:pt x="542487" y="191692"/>
                  </a:cubicBezTo>
                  <a:lnTo>
                    <a:pt x="542487" y="350795"/>
                  </a:lnTo>
                  <a:cubicBezTo>
                    <a:pt x="542487" y="401635"/>
                    <a:pt x="522291" y="450392"/>
                    <a:pt x="486341" y="486341"/>
                  </a:cubicBezTo>
                  <a:cubicBezTo>
                    <a:pt x="450392" y="522291"/>
                    <a:pt x="401635" y="542487"/>
                    <a:pt x="350795" y="542487"/>
                  </a:cubicBezTo>
                  <a:lnTo>
                    <a:pt x="191692" y="542487"/>
                  </a:lnTo>
                  <a:cubicBezTo>
                    <a:pt x="140852" y="542487"/>
                    <a:pt x="92094" y="522291"/>
                    <a:pt x="56145" y="486341"/>
                  </a:cubicBezTo>
                  <a:cubicBezTo>
                    <a:pt x="20196" y="450392"/>
                    <a:pt x="0" y="401635"/>
                    <a:pt x="0" y="350795"/>
                  </a:cubicBezTo>
                  <a:lnTo>
                    <a:pt x="0" y="191692"/>
                  </a:lnTo>
                  <a:cubicBezTo>
                    <a:pt x="0" y="140852"/>
                    <a:pt x="20196" y="92094"/>
                    <a:pt x="56145" y="56145"/>
                  </a:cubicBezTo>
                  <a:cubicBezTo>
                    <a:pt x="92094" y="20196"/>
                    <a:pt x="140852" y="0"/>
                    <a:pt x="191692" y="0"/>
                  </a:cubicBezTo>
                  <a:close/>
                </a:path>
              </a:pathLst>
            </a:custGeom>
            <a:solidFill>
              <a:srgbClr val="000000">
                <a:alpha val="0"/>
              </a:srgbClr>
            </a:solidFill>
            <a:ln w="104775" cap="rnd">
              <a:solidFill>
                <a:srgbClr val="E5D0A9"/>
              </a:solidFill>
              <a:prstDash val="solid"/>
              <a:round/>
            </a:ln>
          </p:spPr>
        </p:sp>
        <p:sp>
          <p:nvSpPr>
            <p:cNvPr id="18" name="TextBox 18"/>
            <p:cNvSpPr txBox="1"/>
            <p:nvPr/>
          </p:nvSpPr>
          <p:spPr>
            <a:xfrm>
              <a:off x="0" y="85725"/>
              <a:ext cx="542487" cy="456762"/>
            </a:xfrm>
            <a:prstGeom prst="rect">
              <a:avLst/>
            </a:prstGeom>
          </p:spPr>
          <p:txBody>
            <a:bodyPr lIns="50800" tIns="50800" rIns="50800" bIns="50800" rtlCol="0" anchor="ctr"/>
            <a:lstStyle/>
            <a:p>
              <a:pPr algn="ctr">
                <a:lnSpc>
                  <a:spcPts val="2149"/>
                </a:lnSpc>
              </a:pPr>
              <a:endParaRPr/>
            </a:p>
          </p:txBody>
        </p:sp>
      </p:grpSp>
      <p:grpSp>
        <p:nvGrpSpPr>
          <p:cNvPr id="19" name="Group 19"/>
          <p:cNvGrpSpPr/>
          <p:nvPr/>
        </p:nvGrpSpPr>
        <p:grpSpPr>
          <a:xfrm>
            <a:off x="6618354" y="6572033"/>
            <a:ext cx="2059754" cy="2059754"/>
            <a:chOff x="0" y="0"/>
            <a:chExt cx="542487" cy="542487"/>
          </a:xfrm>
        </p:grpSpPr>
        <p:sp>
          <p:nvSpPr>
            <p:cNvPr id="20" name="Freeform 20"/>
            <p:cNvSpPr/>
            <p:nvPr/>
          </p:nvSpPr>
          <p:spPr>
            <a:xfrm>
              <a:off x="0" y="0"/>
              <a:ext cx="542487" cy="542487"/>
            </a:xfrm>
            <a:custGeom>
              <a:avLst/>
              <a:gdLst/>
              <a:ahLst/>
              <a:cxnLst/>
              <a:rect l="l" t="t" r="r" b="b"/>
              <a:pathLst>
                <a:path w="542487" h="542487">
                  <a:moveTo>
                    <a:pt x="191692" y="0"/>
                  </a:moveTo>
                  <a:lnTo>
                    <a:pt x="350795" y="0"/>
                  </a:lnTo>
                  <a:cubicBezTo>
                    <a:pt x="401635" y="0"/>
                    <a:pt x="450392" y="20196"/>
                    <a:pt x="486341" y="56145"/>
                  </a:cubicBezTo>
                  <a:cubicBezTo>
                    <a:pt x="522291" y="92094"/>
                    <a:pt x="542487" y="140852"/>
                    <a:pt x="542487" y="191692"/>
                  </a:cubicBezTo>
                  <a:lnTo>
                    <a:pt x="542487" y="350795"/>
                  </a:lnTo>
                  <a:cubicBezTo>
                    <a:pt x="542487" y="401635"/>
                    <a:pt x="522291" y="450392"/>
                    <a:pt x="486341" y="486341"/>
                  </a:cubicBezTo>
                  <a:cubicBezTo>
                    <a:pt x="450392" y="522291"/>
                    <a:pt x="401635" y="542487"/>
                    <a:pt x="350795" y="542487"/>
                  </a:cubicBezTo>
                  <a:lnTo>
                    <a:pt x="191692" y="542487"/>
                  </a:lnTo>
                  <a:cubicBezTo>
                    <a:pt x="140852" y="542487"/>
                    <a:pt x="92094" y="522291"/>
                    <a:pt x="56145" y="486341"/>
                  </a:cubicBezTo>
                  <a:cubicBezTo>
                    <a:pt x="20196" y="450392"/>
                    <a:pt x="0" y="401635"/>
                    <a:pt x="0" y="350795"/>
                  </a:cubicBezTo>
                  <a:lnTo>
                    <a:pt x="0" y="191692"/>
                  </a:lnTo>
                  <a:cubicBezTo>
                    <a:pt x="0" y="140852"/>
                    <a:pt x="20196" y="92094"/>
                    <a:pt x="56145" y="56145"/>
                  </a:cubicBezTo>
                  <a:cubicBezTo>
                    <a:pt x="92094" y="20196"/>
                    <a:pt x="140852" y="0"/>
                    <a:pt x="191692" y="0"/>
                  </a:cubicBezTo>
                  <a:close/>
                </a:path>
              </a:pathLst>
            </a:custGeom>
            <a:solidFill>
              <a:srgbClr val="000000">
                <a:alpha val="0"/>
              </a:srgbClr>
            </a:solidFill>
            <a:ln w="104775" cap="rnd">
              <a:solidFill>
                <a:srgbClr val="E5D0A9"/>
              </a:solidFill>
              <a:prstDash val="solid"/>
              <a:round/>
            </a:ln>
          </p:spPr>
        </p:sp>
        <p:sp>
          <p:nvSpPr>
            <p:cNvPr id="21" name="TextBox 21"/>
            <p:cNvSpPr txBox="1"/>
            <p:nvPr/>
          </p:nvSpPr>
          <p:spPr>
            <a:xfrm>
              <a:off x="0" y="85725"/>
              <a:ext cx="542487" cy="456762"/>
            </a:xfrm>
            <a:prstGeom prst="rect">
              <a:avLst/>
            </a:prstGeom>
          </p:spPr>
          <p:txBody>
            <a:bodyPr lIns="50800" tIns="50800" rIns="50800" bIns="50800" rtlCol="0" anchor="ctr"/>
            <a:lstStyle/>
            <a:p>
              <a:pPr algn="ctr">
                <a:lnSpc>
                  <a:spcPts val="2149"/>
                </a:lnSpc>
              </a:pPr>
              <a:endParaRPr/>
            </a:p>
          </p:txBody>
        </p:sp>
      </p:grpSp>
      <p:grpSp>
        <p:nvGrpSpPr>
          <p:cNvPr id="22" name="Group 22"/>
          <p:cNvGrpSpPr/>
          <p:nvPr/>
        </p:nvGrpSpPr>
        <p:grpSpPr>
          <a:xfrm>
            <a:off x="12154275" y="6572033"/>
            <a:ext cx="2059754" cy="2059754"/>
            <a:chOff x="0" y="0"/>
            <a:chExt cx="542487" cy="542487"/>
          </a:xfrm>
        </p:grpSpPr>
        <p:sp>
          <p:nvSpPr>
            <p:cNvPr id="23" name="Freeform 23"/>
            <p:cNvSpPr/>
            <p:nvPr/>
          </p:nvSpPr>
          <p:spPr>
            <a:xfrm>
              <a:off x="0" y="0"/>
              <a:ext cx="542487" cy="542487"/>
            </a:xfrm>
            <a:custGeom>
              <a:avLst/>
              <a:gdLst/>
              <a:ahLst/>
              <a:cxnLst/>
              <a:rect l="l" t="t" r="r" b="b"/>
              <a:pathLst>
                <a:path w="542487" h="542487">
                  <a:moveTo>
                    <a:pt x="191692" y="0"/>
                  </a:moveTo>
                  <a:lnTo>
                    <a:pt x="350795" y="0"/>
                  </a:lnTo>
                  <a:cubicBezTo>
                    <a:pt x="401635" y="0"/>
                    <a:pt x="450392" y="20196"/>
                    <a:pt x="486341" y="56145"/>
                  </a:cubicBezTo>
                  <a:cubicBezTo>
                    <a:pt x="522291" y="92094"/>
                    <a:pt x="542487" y="140852"/>
                    <a:pt x="542487" y="191692"/>
                  </a:cubicBezTo>
                  <a:lnTo>
                    <a:pt x="542487" y="350795"/>
                  </a:lnTo>
                  <a:cubicBezTo>
                    <a:pt x="542487" y="401635"/>
                    <a:pt x="522291" y="450392"/>
                    <a:pt x="486341" y="486341"/>
                  </a:cubicBezTo>
                  <a:cubicBezTo>
                    <a:pt x="450392" y="522291"/>
                    <a:pt x="401635" y="542487"/>
                    <a:pt x="350795" y="542487"/>
                  </a:cubicBezTo>
                  <a:lnTo>
                    <a:pt x="191692" y="542487"/>
                  </a:lnTo>
                  <a:cubicBezTo>
                    <a:pt x="140852" y="542487"/>
                    <a:pt x="92094" y="522291"/>
                    <a:pt x="56145" y="486341"/>
                  </a:cubicBezTo>
                  <a:cubicBezTo>
                    <a:pt x="20196" y="450392"/>
                    <a:pt x="0" y="401635"/>
                    <a:pt x="0" y="350795"/>
                  </a:cubicBezTo>
                  <a:lnTo>
                    <a:pt x="0" y="191692"/>
                  </a:lnTo>
                  <a:cubicBezTo>
                    <a:pt x="0" y="140852"/>
                    <a:pt x="20196" y="92094"/>
                    <a:pt x="56145" y="56145"/>
                  </a:cubicBezTo>
                  <a:cubicBezTo>
                    <a:pt x="92094" y="20196"/>
                    <a:pt x="140852" y="0"/>
                    <a:pt x="191692" y="0"/>
                  </a:cubicBezTo>
                  <a:close/>
                </a:path>
              </a:pathLst>
            </a:custGeom>
            <a:solidFill>
              <a:srgbClr val="000000">
                <a:alpha val="0"/>
              </a:srgbClr>
            </a:solidFill>
            <a:ln w="104775" cap="rnd">
              <a:solidFill>
                <a:srgbClr val="E5D0A9"/>
              </a:solidFill>
              <a:prstDash val="solid"/>
              <a:round/>
            </a:ln>
          </p:spPr>
        </p:sp>
        <p:sp>
          <p:nvSpPr>
            <p:cNvPr id="24" name="TextBox 24"/>
            <p:cNvSpPr txBox="1"/>
            <p:nvPr/>
          </p:nvSpPr>
          <p:spPr>
            <a:xfrm>
              <a:off x="0" y="85725"/>
              <a:ext cx="542487" cy="456762"/>
            </a:xfrm>
            <a:prstGeom prst="rect">
              <a:avLst/>
            </a:prstGeom>
          </p:spPr>
          <p:txBody>
            <a:bodyPr lIns="50800" tIns="50800" rIns="50800" bIns="50800" rtlCol="0" anchor="ctr"/>
            <a:lstStyle/>
            <a:p>
              <a:pPr algn="ctr">
                <a:lnSpc>
                  <a:spcPts val="2149"/>
                </a:lnSpc>
              </a:pPr>
              <a:endParaRPr/>
            </a:p>
          </p:txBody>
        </p:sp>
      </p:grpSp>
      <p:sp>
        <p:nvSpPr>
          <p:cNvPr id="25" name="TextBox 25"/>
          <p:cNvSpPr txBox="1"/>
          <p:nvPr/>
        </p:nvSpPr>
        <p:spPr>
          <a:xfrm>
            <a:off x="1091104" y="3819831"/>
            <a:ext cx="2032887" cy="1701575"/>
          </a:xfrm>
          <a:prstGeom prst="rect">
            <a:avLst/>
          </a:prstGeom>
        </p:spPr>
        <p:txBody>
          <a:bodyPr lIns="0" tIns="0" rIns="0" bIns="0" rtlCol="0" anchor="t">
            <a:spAutoFit/>
          </a:bodyPr>
          <a:lstStyle/>
          <a:p>
            <a:pPr algn="ctr">
              <a:lnSpc>
                <a:spcPts val="13837"/>
              </a:lnSpc>
            </a:pPr>
            <a:r>
              <a:rPr lang="en-US" sz="9883" b="1">
                <a:solidFill>
                  <a:srgbClr val="E5D0A9"/>
                </a:solidFill>
                <a:latin typeface="Blinker Bold"/>
                <a:ea typeface="Blinker Bold"/>
                <a:cs typeface="Blinker Bold"/>
                <a:sym typeface="Blinker Bold"/>
              </a:rPr>
              <a:t>1</a:t>
            </a:r>
          </a:p>
        </p:txBody>
      </p:sp>
      <p:sp>
        <p:nvSpPr>
          <p:cNvPr id="26" name="TextBox 26"/>
          <p:cNvSpPr txBox="1"/>
          <p:nvPr/>
        </p:nvSpPr>
        <p:spPr>
          <a:xfrm>
            <a:off x="6600158" y="3819831"/>
            <a:ext cx="2050229" cy="1701575"/>
          </a:xfrm>
          <a:prstGeom prst="rect">
            <a:avLst/>
          </a:prstGeom>
        </p:spPr>
        <p:txBody>
          <a:bodyPr lIns="0" tIns="0" rIns="0" bIns="0" rtlCol="0" anchor="t">
            <a:spAutoFit/>
          </a:bodyPr>
          <a:lstStyle/>
          <a:p>
            <a:pPr algn="ctr">
              <a:lnSpc>
                <a:spcPts val="13837"/>
              </a:lnSpc>
            </a:pPr>
            <a:r>
              <a:rPr lang="en-US" sz="9883" b="1">
                <a:solidFill>
                  <a:srgbClr val="E5D0A9"/>
                </a:solidFill>
                <a:latin typeface="Blinker Bold"/>
                <a:ea typeface="Blinker Bold"/>
                <a:cs typeface="Blinker Bold"/>
                <a:sym typeface="Blinker Bold"/>
              </a:rPr>
              <a:t>2</a:t>
            </a:r>
          </a:p>
        </p:txBody>
      </p:sp>
      <p:sp>
        <p:nvSpPr>
          <p:cNvPr id="27" name="TextBox 27"/>
          <p:cNvSpPr txBox="1"/>
          <p:nvPr/>
        </p:nvSpPr>
        <p:spPr>
          <a:xfrm>
            <a:off x="12136079" y="3819831"/>
            <a:ext cx="2059754" cy="1701575"/>
          </a:xfrm>
          <a:prstGeom prst="rect">
            <a:avLst/>
          </a:prstGeom>
        </p:spPr>
        <p:txBody>
          <a:bodyPr lIns="0" tIns="0" rIns="0" bIns="0" rtlCol="0" anchor="t">
            <a:spAutoFit/>
          </a:bodyPr>
          <a:lstStyle/>
          <a:p>
            <a:pPr algn="ctr">
              <a:lnSpc>
                <a:spcPts val="13837"/>
              </a:lnSpc>
            </a:pPr>
            <a:r>
              <a:rPr lang="en-US" sz="9883" b="1">
                <a:solidFill>
                  <a:srgbClr val="E5D0A9"/>
                </a:solidFill>
                <a:latin typeface="Blinker Bold"/>
                <a:ea typeface="Blinker Bold"/>
                <a:cs typeface="Blinker Bold"/>
                <a:sym typeface="Blinker Bold"/>
              </a:rPr>
              <a:t>3</a:t>
            </a:r>
          </a:p>
        </p:txBody>
      </p:sp>
      <p:sp>
        <p:nvSpPr>
          <p:cNvPr id="28" name="TextBox 28"/>
          <p:cNvSpPr txBox="1"/>
          <p:nvPr/>
        </p:nvSpPr>
        <p:spPr>
          <a:xfrm>
            <a:off x="1093133" y="6651110"/>
            <a:ext cx="2059754" cy="1701575"/>
          </a:xfrm>
          <a:prstGeom prst="rect">
            <a:avLst/>
          </a:prstGeom>
        </p:spPr>
        <p:txBody>
          <a:bodyPr lIns="0" tIns="0" rIns="0" bIns="0" rtlCol="0" anchor="t">
            <a:spAutoFit/>
          </a:bodyPr>
          <a:lstStyle/>
          <a:p>
            <a:pPr algn="ctr">
              <a:lnSpc>
                <a:spcPts val="13837"/>
              </a:lnSpc>
            </a:pPr>
            <a:r>
              <a:rPr lang="en-US" sz="9883" b="1">
                <a:solidFill>
                  <a:srgbClr val="E5D0A9"/>
                </a:solidFill>
                <a:latin typeface="Blinker Bold"/>
                <a:ea typeface="Blinker Bold"/>
                <a:cs typeface="Blinker Bold"/>
                <a:sym typeface="Blinker Bold"/>
              </a:rPr>
              <a:t>4</a:t>
            </a:r>
          </a:p>
        </p:txBody>
      </p:sp>
      <p:sp>
        <p:nvSpPr>
          <p:cNvPr id="29" name="TextBox 29"/>
          <p:cNvSpPr txBox="1"/>
          <p:nvPr/>
        </p:nvSpPr>
        <p:spPr>
          <a:xfrm>
            <a:off x="6629054" y="6651110"/>
            <a:ext cx="2050229" cy="1701575"/>
          </a:xfrm>
          <a:prstGeom prst="rect">
            <a:avLst/>
          </a:prstGeom>
        </p:spPr>
        <p:txBody>
          <a:bodyPr lIns="0" tIns="0" rIns="0" bIns="0" rtlCol="0" anchor="t">
            <a:spAutoFit/>
          </a:bodyPr>
          <a:lstStyle/>
          <a:p>
            <a:pPr algn="ctr">
              <a:lnSpc>
                <a:spcPts val="13837"/>
              </a:lnSpc>
            </a:pPr>
            <a:r>
              <a:rPr lang="en-US" sz="9883" b="1">
                <a:solidFill>
                  <a:srgbClr val="E5D0A9"/>
                </a:solidFill>
                <a:latin typeface="Blinker Bold"/>
                <a:ea typeface="Blinker Bold"/>
                <a:cs typeface="Blinker Bold"/>
                <a:sym typeface="Blinker Bold"/>
              </a:rPr>
              <a:t>5</a:t>
            </a:r>
          </a:p>
        </p:txBody>
      </p:sp>
      <p:sp>
        <p:nvSpPr>
          <p:cNvPr id="30" name="TextBox 30"/>
          <p:cNvSpPr txBox="1"/>
          <p:nvPr/>
        </p:nvSpPr>
        <p:spPr>
          <a:xfrm>
            <a:off x="12164974" y="6651110"/>
            <a:ext cx="2059754" cy="1701575"/>
          </a:xfrm>
          <a:prstGeom prst="rect">
            <a:avLst/>
          </a:prstGeom>
        </p:spPr>
        <p:txBody>
          <a:bodyPr lIns="0" tIns="0" rIns="0" bIns="0" rtlCol="0" anchor="t">
            <a:spAutoFit/>
          </a:bodyPr>
          <a:lstStyle/>
          <a:p>
            <a:pPr algn="ctr">
              <a:lnSpc>
                <a:spcPts val="13837"/>
              </a:lnSpc>
            </a:pPr>
            <a:r>
              <a:rPr lang="en-US" sz="9883" b="1">
                <a:solidFill>
                  <a:srgbClr val="E5D0A9"/>
                </a:solidFill>
                <a:latin typeface="Blinker Bold"/>
                <a:ea typeface="Blinker Bold"/>
                <a:cs typeface="Blinker Bold"/>
                <a:sym typeface="Blinker Bold"/>
              </a:rPr>
              <a:t>6</a:t>
            </a:r>
          </a:p>
        </p:txBody>
      </p:sp>
      <p:sp>
        <p:nvSpPr>
          <p:cNvPr id="31" name="TextBox 31"/>
          <p:cNvSpPr txBox="1"/>
          <p:nvPr/>
        </p:nvSpPr>
        <p:spPr>
          <a:xfrm>
            <a:off x="8741903" y="3824870"/>
            <a:ext cx="3330382" cy="1824355"/>
          </a:xfrm>
          <a:prstGeom prst="rect">
            <a:avLst/>
          </a:prstGeom>
        </p:spPr>
        <p:txBody>
          <a:bodyPr lIns="0" tIns="0" rIns="0" bIns="0" rtlCol="0" anchor="t">
            <a:spAutoFit/>
          </a:bodyPr>
          <a:lstStyle/>
          <a:p>
            <a:pPr algn="l">
              <a:lnSpc>
                <a:spcPts val="2940"/>
              </a:lnSpc>
            </a:pPr>
            <a:r>
              <a:rPr lang="en-US" sz="2100" b="1">
                <a:solidFill>
                  <a:srgbClr val="F49619"/>
                </a:solidFill>
                <a:latin typeface="Blinker Bold"/>
                <a:ea typeface="Blinker Bold"/>
                <a:cs typeface="Blinker Bold"/>
                <a:sym typeface="Blinker Bold"/>
              </a:rPr>
              <a:t>Optimisation des ressources :</a:t>
            </a:r>
            <a:r>
              <a:rPr lang="en-US" sz="2100">
                <a:solidFill>
                  <a:srgbClr val="E5D0A9"/>
                </a:solidFill>
                <a:latin typeface="Blinker"/>
                <a:ea typeface="Blinker"/>
                <a:cs typeface="Blinker"/>
                <a:sym typeface="Blinker"/>
              </a:rPr>
              <a:t> Power BI propose une gestion performante de gros volumes de données.</a:t>
            </a:r>
          </a:p>
          <a:p>
            <a:pPr algn="l">
              <a:lnSpc>
                <a:spcPts val="2800"/>
              </a:lnSpc>
            </a:pPr>
            <a:endParaRPr lang="en-US" sz="2100">
              <a:solidFill>
                <a:srgbClr val="E5D0A9"/>
              </a:solidFill>
              <a:latin typeface="Blinker"/>
              <a:ea typeface="Blinker"/>
              <a:cs typeface="Blinker"/>
              <a:sym typeface="Blinker"/>
            </a:endParaRPr>
          </a:p>
        </p:txBody>
      </p:sp>
      <p:sp>
        <p:nvSpPr>
          <p:cNvPr id="32" name="TextBox 32"/>
          <p:cNvSpPr txBox="1"/>
          <p:nvPr/>
        </p:nvSpPr>
        <p:spPr>
          <a:xfrm>
            <a:off x="14452154" y="3815345"/>
            <a:ext cx="2941414" cy="1758950"/>
          </a:xfrm>
          <a:prstGeom prst="rect">
            <a:avLst/>
          </a:prstGeom>
        </p:spPr>
        <p:txBody>
          <a:bodyPr lIns="0" tIns="0" rIns="0" bIns="0" rtlCol="0" anchor="t">
            <a:spAutoFit/>
          </a:bodyPr>
          <a:lstStyle/>
          <a:p>
            <a:pPr algn="l">
              <a:lnSpc>
                <a:spcPts val="2800"/>
              </a:lnSpc>
            </a:pPr>
            <a:r>
              <a:rPr lang="en-US" sz="2000" b="1">
                <a:solidFill>
                  <a:srgbClr val="F49619"/>
                </a:solidFill>
                <a:latin typeface="Blinker Bold"/>
                <a:ea typeface="Blinker Bold"/>
                <a:cs typeface="Blinker Bold"/>
                <a:sym typeface="Blinker Bold"/>
              </a:rPr>
              <a:t>Facilité de collaboration : </a:t>
            </a:r>
          </a:p>
          <a:p>
            <a:pPr algn="l">
              <a:lnSpc>
                <a:spcPts val="2800"/>
              </a:lnSpc>
            </a:pPr>
            <a:r>
              <a:rPr lang="en-US" sz="2000">
                <a:solidFill>
                  <a:srgbClr val="E5D0A9"/>
                </a:solidFill>
                <a:latin typeface="Blinker"/>
                <a:ea typeface="Blinker"/>
                <a:cs typeface="Blinker"/>
                <a:sym typeface="Blinker"/>
              </a:rPr>
              <a:t>les rapports peuvent être partagés facilement avec l’équipe projet.</a:t>
            </a:r>
          </a:p>
          <a:p>
            <a:pPr algn="l">
              <a:lnSpc>
                <a:spcPts val="2800"/>
              </a:lnSpc>
            </a:pPr>
            <a:endParaRPr lang="en-US" sz="2000">
              <a:solidFill>
                <a:srgbClr val="E5D0A9"/>
              </a:solidFill>
              <a:latin typeface="Blinker"/>
              <a:ea typeface="Blinker"/>
              <a:cs typeface="Blinker"/>
              <a:sym typeface="Blinker"/>
            </a:endParaRPr>
          </a:p>
        </p:txBody>
      </p:sp>
      <p:sp>
        <p:nvSpPr>
          <p:cNvPr id="33" name="TextBox 33"/>
          <p:cNvSpPr txBox="1"/>
          <p:nvPr/>
        </p:nvSpPr>
        <p:spPr>
          <a:xfrm>
            <a:off x="3381665" y="6646624"/>
            <a:ext cx="2941414" cy="1758950"/>
          </a:xfrm>
          <a:prstGeom prst="rect">
            <a:avLst/>
          </a:prstGeom>
        </p:spPr>
        <p:txBody>
          <a:bodyPr lIns="0" tIns="0" rIns="0" bIns="0" rtlCol="0" anchor="t">
            <a:spAutoFit/>
          </a:bodyPr>
          <a:lstStyle/>
          <a:p>
            <a:pPr algn="l">
              <a:lnSpc>
                <a:spcPts val="2800"/>
              </a:lnSpc>
            </a:pPr>
            <a:r>
              <a:rPr lang="en-US" sz="2000" b="1">
                <a:solidFill>
                  <a:srgbClr val="F49619"/>
                </a:solidFill>
                <a:latin typeface="Blinker Bold"/>
                <a:ea typeface="Blinker Bold"/>
                <a:cs typeface="Blinker Bold"/>
                <a:sym typeface="Blinker Bold"/>
              </a:rPr>
              <a:t>Compatibilité :</a:t>
            </a:r>
          </a:p>
          <a:p>
            <a:pPr algn="l">
              <a:lnSpc>
                <a:spcPts val="2800"/>
              </a:lnSpc>
            </a:pPr>
            <a:r>
              <a:rPr lang="en-US" sz="2000">
                <a:solidFill>
                  <a:srgbClr val="E5D0A9"/>
                </a:solidFill>
                <a:latin typeface="Blinker"/>
                <a:ea typeface="Blinker"/>
                <a:cs typeface="Blinker"/>
                <a:sym typeface="Blinker"/>
              </a:rPr>
              <a:t> l’outil s’intègre naturellement aux sources Excel, CSV et plateformes cloud courantes</a:t>
            </a:r>
          </a:p>
        </p:txBody>
      </p:sp>
      <p:sp>
        <p:nvSpPr>
          <p:cNvPr id="34" name="TextBox 34"/>
          <p:cNvSpPr txBox="1"/>
          <p:nvPr/>
        </p:nvSpPr>
        <p:spPr>
          <a:xfrm>
            <a:off x="8916233" y="6646624"/>
            <a:ext cx="2941414" cy="1758950"/>
          </a:xfrm>
          <a:prstGeom prst="rect">
            <a:avLst/>
          </a:prstGeom>
        </p:spPr>
        <p:txBody>
          <a:bodyPr lIns="0" tIns="0" rIns="0" bIns="0" rtlCol="0" anchor="t">
            <a:spAutoFit/>
          </a:bodyPr>
          <a:lstStyle/>
          <a:p>
            <a:pPr algn="l">
              <a:lnSpc>
                <a:spcPts val="2800"/>
              </a:lnSpc>
            </a:pPr>
            <a:r>
              <a:rPr lang="en-US" sz="2000" b="1">
                <a:solidFill>
                  <a:srgbClr val="F49619"/>
                </a:solidFill>
                <a:latin typeface="Blinker Bold"/>
                <a:ea typeface="Blinker Bold"/>
                <a:cs typeface="Blinker Bold"/>
                <a:sym typeface="Blinker Bold"/>
              </a:rPr>
              <a:t>Richesse des visualisations :</a:t>
            </a:r>
            <a:r>
              <a:rPr lang="en-US" sz="2000">
                <a:solidFill>
                  <a:srgbClr val="E5D0A9"/>
                </a:solidFill>
                <a:latin typeface="Blinker"/>
                <a:ea typeface="Blinker"/>
                <a:cs typeface="Blinker"/>
                <a:sym typeface="Blinker"/>
              </a:rPr>
              <a:t> disponibilité native de nuages de points, cartes, barres empilées et lignes temporelles</a:t>
            </a:r>
          </a:p>
        </p:txBody>
      </p:sp>
      <p:sp>
        <p:nvSpPr>
          <p:cNvPr id="35" name="TextBox 35"/>
          <p:cNvSpPr txBox="1"/>
          <p:nvPr/>
        </p:nvSpPr>
        <p:spPr>
          <a:xfrm>
            <a:off x="14509304" y="6657837"/>
            <a:ext cx="2941414" cy="2111375"/>
          </a:xfrm>
          <a:prstGeom prst="rect">
            <a:avLst/>
          </a:prstGeom>
        </p:spPr>
        <p:txBody>
          <a:bodyPr lIns="0" tIns="0" rIns="0" bIns="0" rtlCol="0" anchor="t">
            <a:spAutoFit/>
          </a:bodyPr>
          <a:lstStyle/>
          <a:p>
            <a:pPr algn="l">
              <a:lnSpc>
                <a:spcPts val="2800"/>
              </a:lnSpc>
            </a:pPr>
            <a:r>
              <a:rPr lang="en-US" sz="2000" b="1">
                <a:solidFill>
                  <a:srgbClr val="F49619"/>
                </a:solidFill>
                <a:latin typeface="Blinker Bold"/>
                <a:ea typeface="Blinker Bold"/>
                <a:cs typeface="Blinker Bold"/>
                <a:sym typeface="Blinker Bold"/>
              </a:rPr>
              <a:t>Interactivité avancée :</a:t>
            </a:r>
            <a:r>
              <a:rPr lang="en-US" sz="2000">
                <a:solidFill>
                  <a:srgbClr val="E5D0A9"/>
                </a:solidFill>
                <a:latin typeface="Blinker"/>
                <a:ea typeface="Blinker"/>
                <a:cs typeface="Blinker"/>
                <a:sym typeface="Blinker"/>
              </a:rPr>
              <a:t> filtres personnalisés, sélections dynamiques et vue multi échelle (monde, continent, pays).</a:t>
            </a:r>
          </a:p>
          <a:p>
            <a:pPr algn="l">
              <a:lnSpc>
                <a:spcPts val="2800"/>
              </a:lnSpc>
            </a:pPr>
            <a:endParaRPr lang="en-US" sz="2000">
              <a:solidFill>
                <a:srgbClr val="E5D0A9"/>
              </a:solidFill>
              <a:latin typeface="Blinker"/>
              <a:ea typeface="Blinker"/>
              <a:cs typeface="Blinker"/>
              <a:sym typeface="Blinker"/>
            </a:endParaRPr>
          </a:p>
        </p:txBody>
      </p:sp>
      <p:sp>
        <p:nvSpPr>
          <p:cNvPr id="36" name="TextBox 36"/>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FFFFFF"/>
                </a:solidFill>
                <a:latin typeface="Assistant"/>
                <a:ea typeface="Assistant"/>
                <a:cs typeface="Assistant"/>
                <a:sym typeface="Assistant"/>
              </a:rPr>
              <a:t>7</a:t>
            </a: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21D1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515042" cy="10287000"/>
            <a:chOff x="0" y="0"/>
            <a:chExt cx="135649" cy="2709333"/>
          </a:xfrm>
        </p:grpSpPr>
        <p:sp>
          <p:nvSpPr>
            <p:cNvPr id="3" name="Freeform 3"/>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E5D0A9"/>
            </a:solidFill>
          </p:spPr>
        </p:sp>
        <p:sp>
          <p:nvSpPr>
            <p:cNvPr id="4" name="TextBox 4"/>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sp>
        <p:nvSpPr>
          <p:cNvPr id="5" name="Freeform 5"/>
          <p:cNvSpPr/>
          <p:nvPr/>
        </p:nvSpPr>
        <p:spPr>
          <a:xfrm>
            <a:off x="920065" y="2457513"/>
            <a:ext cx="9732056" cy="6429739"/>
          </a:xfrm>
          <a:custGeom>
            <a:avLst/>
            <a:gdLst/>
            <a:ahLst/>
            <a:cxnLst/>
            <a:rect l="l" t="t" r="r" b="b"/>
            <a:pathLst>
              <a:path w="9732056" h="6429739">
                <a:moveTo>
                  <a:pt x="0" y="0"/>
                </a:moveTo>
                <a:lnTo>
                  <a:pt x="9732056" y="0"/>
                </a:lnTo>
                <a:lnTo>
                  <a:pt x="9732056" y="6429740"/>
                </a:lnTo>
                <a:lnTo>
                  <a:pt x="0" y="6429740"/>
                </a:lnTo>
                <a:lnTo>
                  <a:pt x="0" y="0"/>
                </a:lnTo>
                <a:close/>
              </a:path>
            </a:pathLst>
          </a:custGeom>
          <a:blipFill>
            <a:blip r:embed="rId2"/>
            <a:stretch>
              <a:fillRect l="-3604" r="-3604"/>
            </a:stretch>
          </a:blipFill>
        </p:spPr>
      </p:sp>
      <p:sp>
        <p:nvSpPr>
          <p:cNvPr id="6" name="TextBox 6"/>
          <p:cNvSpPr txBox="1"/>
          <p:nvPr/>
        </p:nvSpPr>
        <p:spPr>
          <a:xfrm>
            <a:off x="3420225" y="127808"/>
            <a:ext cx="12146236" cy="1882778"/>
          </a:xfrm>
          <a:prstGeom prst="rect">
            <a:avLst/>
          </a:prstGeom>
        </p:spPr>
        <p:txBody>
          <a:bodyPr lIns="0" tIns="0" rIns="0" bIns="0" rtlCol="0" anchor="t">
            <a:spAutoFit/>
          </a:bodyPr>
          <a:lstStyle/>
          <a:p>
            <a:pPr algn="ctr">
              <a:lnSpc>
                <a:spcPts val="15399"/>
              </a:lnSpc>
            </a:pPr>
            <a:r>
              <a:rPr lang="en-US" sz="10999" b="1">
                <a:solidFill>
                  <a:srgbClr val="E5D0A9"/>
                </a:solidFill>
                <a:latin typeface="Blinker Bold"/>
                <a:ea typeface="Blinker Bold"/>
                <a:cs typeface="Blinker Bold"/>
                <a:sym typeface="Blinker Bold"/>
              </a:rPr>
              <a:t>MODELE EN ÉTOILE</a:t>
            </a:r>
          </a:p>
        </p:txBody>
      </p:sp>
      <p:sp>
        <p:nvSpPr>
          <p:cNvPr id="7" name="TextBox 7"/>
          <p:cNvSpPr txBox="1"/>
          <p:nvPr/>
        </p:nvSpPr>
        <p:spPr>
          <a:xfrm>
            <a:off x="10867729" y="2409888"/>
            <a:ext cx="7144230" cy="6477364"/>
          </a:xfrm>
          <a:prstGeom prst="rect">
            <a:avLst/>
          </a:prstGeom>
        </p:spPr>
        <p:txBody>
          <a:bodyPr lIns="0" tIns="0" rIns="0" bIns="0" rtlCol="0" anchor="t">
            <a:spAutoFit/>
          </a:bodyPr>
          <a:lstStyle/>
          <a:p>
            <a:pPr algn="l">
              <a:lnSpc>
                <a:spcPts val="3692"/>
              </a:lnSpc>
            </a:pPr>
            <a:r>
              <a:rPr lang="en-US" sz="2637">
                <a:solidFill>
                  <a:srgbClr val="E8E0D2"/>
                </a:solidFill>
                <a:latin typeface="Blinker"/>
                <a:ea typeface="Blinker"/>
                <a:cs typeface="Blinker"/>
                <a:sym typeface="Blinker"/>
              </a:rPr>
              <a:t>J’ai relié l’ensemble des tables du modèle via la clé code_pays afin d’assurer l’intégration cohérente des données géographiques. </a:t>
            </a:r>
          </a:p>
          <a:p>
            <a:pPr algn="l">
              <a:lnSpc>
                <a:spcPts val="3692"/>
              </a:lnSpc>
            </a:pPr>
            <a:endParaRPr lang="en-US" sz="2637">
              <a:solidFill>
                <a:srgbClr val="E8E0D2"/>
              </a:solidFill>
              <a:latin typeface="Blinker"/>
              <a:ea typeface="Blinker"/>
              <a:cs typeface="Blinker"/>
              <a:sym typeface="Blinker"/>
            </a:endParaRPr>
          </a:p>
          <a:p>
            <a:pPr algn="l">
              <a:lnSpc>
                <a:spcPts val="3692"/>
              </a:lnSpc>
            </a:pPr>
            <a:r>
              <a:rPr lang="en-US" sz="2637">
                <a:solidFill>
                  <a:srgbClr val="E8E0D2"/>
                </a:solidFill>
                <a:latin typeface="Blinker"/>
                <a:ea typeface="Blinker"/>
                <a:cs typeface="Blinker"/>
                <a:sym typeface="Blinker"/>
              </a:rPr>
              <a:t>Pour permettre une analyse croisée par année, j’ai créé une clé technique index_unique dans chaque table en concaténant le code pays et l’année correspondante.</a:t>
            </a:r>
          </a:p>
          <a:p>
            <a:pPr algn="l">
              <a:lnSpc>
                <a:spcPts val="3692"/>
              </a:lnSpc>
            </a:pPr>
            <a:endParaRPr lang="en-US" sz="2637">
              <a:solidFill>
                <a:srgbClr val="E8E0D2"/>
              </a:solidFill>
              <a:latin typeface="Blinker"/>
              <a:ea typeface="Blinker"/>
              <a:cs typeface="Blinker"/>
              <a:sym typeface="Blinker"/>
            </a:endParaRPr>
          </a:p>
          <a:p>
            <a:pPr algn="l">
              <a:lnSpc>
                <a:spcPts val="3692"/>
              </a:lnSpc>
            </a:pPr>
            <a:r>
              <a:rPr lang="en-US" sz="2637">
                <a:solidFill>
                  <a:srgbClr val="E8E0D2"/>
                </a:solidFill>
                <a:latin typeface="Blinker"/>
                <a:ea typeface="Blinker"/>
                <a:cs typeface="Blinker"/>
                <a:sym typeface="Blinker"/>
              </a:rPr>
              <a:t> Cette clé assure l’unicité des enregistrements et rend possible des jointures efficaces entre les différentes sources et thèmes du modèle, notamment lors de comparaisons multi-indicateurs et évolutions temporelles</a:t>
            </a:r>
          </a:p>
        </p:txBody>
      </p:sp>
      <p:sp>
        <p:nvSpPr>
          <p:cNvPr id="8" name="TextBox 8"/>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FFFFFF"/>
                </a:solidFill>
                <a:latin typeface="Assistant"/>
                <a:ea typeface="Assistant"/>
                <a:cs typeface="Assistant"/>
                <a:sym typeface="Assistant"/>
              </a:rPr>
              <a:t>8</a:t>
            </a: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042" y="0"/>
            <a:ext cx="17772958" cy="10287000"/>
          </a:xfrm>
          <a:custGeom>
            <a:avLst/>
            <a:gdLst/>
            <a:ahLst/>
            <a:cxnLst/>
            <a:rect l="l" t="t" r="r" b="b"/>
            <a:pathLst>
              <a:path w="17772958" h="10287000">
                <a:moveTo>
                  <a:pt x="0" y="0"/>
                </a:moveTo>
                <a:lnTo>
                  <a:pt x="17772958" y="0"/>
                </a:lnTo>
                <a:lnTo>
                  <a:pt x="17772958" y="10287000"/>
                </a:lnTo>
                <a:lnTo>
                  <a:pt x="0" y="10287000"/>
                </a:lnTo>
                <a:lnTo>
                  <a:pt x="0" y="0"/>
                </a:lnTo>
                <a:close/>
              </a:path>
            </a:pathLst>
          </a:custGeom>
          <a:blipFill>
            <a:blip r:embed="rId2"/>
            <a:stretch>
              <a:fillRect l="-36388" r="-36388"/>
            </a:stretch>
          </a:blipFill>
        </p:spPr>
      </p:sp>
      <p:grpSp>
        <p:nvGrpSpPr>
          <p:cNvPr id="3" name="Group 3"/>
          <p:cNvGrpSpPr/>
          <p:nvPr/>
        </p:nvGrpSpPr>
        <p:grpSpPr>
          <a:xfrm>
            <a:off x="0" y="0"/>
            <a:ext cx="515042" cy="10287000"/>
            <a:chOff x="0" y="0"/>
            <a:chExt cx="135649" cy="2709333"/>
          </a:xfrm>
        </p:grpSpPr>
        <p:sp>
          <p:nvSpPr>
            <p:cNvPr id="4" name="Freeform 4"/>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221D16"/>
            </a:solidFill>
          </p:spPr>
        </p:sp>
        <p:sp>
          <p:nvSpPr>
            <p:cNvPr id="5" name="TextBox 5"/>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grpSp>
        <p:nvGrpSpPr>
          <p:cNvPr id="6" name="Group 6"/>
          <p:cNvGrpSpPr/>
          <p:nvPr/>
        </p:nvGrpSpPr>
        <p:grpSpPr>
          <a:xfrm>
            <a:off x="1131663" y="1950065"/>
            <a:ext cx="17156337" cy="5780501"/>
            <a:chOff x="0" y="0"/>
            <a:chExt cx="4518541" cy="1522436"/>
          </a:xfrm>
        </p:grpSpPr>
        <p:sp>
          <p:nvSpPr>
            <p:cNvPr id="7" name="Freeform 7"/>
            <p:cNvSpPr/>
            <p:nvPr/>
          </p:nvSpPr>
          <p:spPr>
            <a:xfrm>
              <a:off x="0" y="0"/>
              <a:ext cx="4518542" cy="1522436"/>
            </a:xfrm>
            <a:custGeom>
              <a:avLst/>
              <a:gdLst/>
              <a:ahLst/>
              <a:cxnLst/>
              <a:rect l="l" t="t" r="r" b="b"/>
              <a:pathLst>
                <a:path w="4518542" h="1522436">
                  <a:moveTo>
                    <a:pt x="0" y="0"/>
                  </a:moveTo>
                  <a:lnTo>
                    <a:pt x="4518542" y="0"/>
                  </a:lnTo>
                  <a:lnTo>
                    <a:pt x="4518542" y="1522436"/>
                  </a:lnTo>
                  <a:lnTo>
                    <a:pt x="0" y="1522436"/>
                  </a:lnTo>
                  <a:close/>
                </a:path>
              </a:pathLst>
            </a:custGeom>
            <a:solidFill>
              <a:srgbClr val="000000">
                <a:alpha val="74902"/>
              </a:srgbClr>
            </a:solidFill>
          </p:spPr>
        </p:sp>
        <p:sp>
          <p:nvSpPr>
            <p:cNvPr id="8" name="TextBox 8"/>
            <p:cNvSpPr txBox="1"/>
            <p:nvPr/>
          </p:nvSpPr>
          <p:spPr>
            <a:xfrm>
              <a:off x="0" y="76200"/>
              <a:ext cx="4518541" cy="1446236"/>
            </a:xfrm>
            <a:prstGeom prst="rect">
              <a:avLst/>
            </a:prstGeom>
          </p:spPr>
          <p:txBody>
            <a:bodyPr lIns="50800" tIns="50800" rIns="50800" bIns="50800" rtlCol="0" anchor="ctr"/>
            <a:lstStyle/>
            <a:p>
              <a:pPr algn="ctr">
                <a:lnSpc>
                  <a:spcPts val="2074"/>
                </a:lnSpc>
              </a:pPr>
              <a:endParaRPr/>
            </a:p>
          </p:txBody>
        </p:sp>
      </p:grpSp>
      <p:sp>
        <p:nvSpPr>
          <p:cNvPr id="9" name="TextBox 9"/>
          <p:cNvSpPr txBox="1"/>
          <p:nvPr/>
        </p:nvSpPr>
        <p:spPr>
          <a:xfrm>
            <a:off x="1371793" y="2207539"/>
            <a:ext cx="15887507" cy="1552565"/>
          </a:xfrm>
          <a:prstGeom prst="rect">
            <a:avLst/>
          </a:prstGeom>
        </p:spPr>
        <p:txBody>
          <a:bodyPr lIns="0" tIns="0" rIns="0" bIns="0" rtlCol="0" anchor="t">
            <a:spAutoFit/>
          </a:bodyPr>
          <a:lstStyle/>
          <a:p>
            <a:pPr algn="just">
              <a:lnSpc>
                <a:spcPts val="12600"/>
              </a:lnSpc>
            </a:pPr>
            <a:r>
              <a:rPr lang="en-US" sz="9000" b="1">
                <a:solidFill>
                  <a:srgbClr val="E5D0A9"/>
                </a:solidFill>
                <a:latin typeface="Blinker Bold"/>
                <a:ea typeface="Blinker Bold"/>
                <a:cs typeface="Blinker Bold"/>
                <a:sym typeface="Blinker Bold"/>
              </a:rPr>
              <a:t>VISUALISATION ET ANALYSE</a:t>
            </a:r>
          </a:p>
        </p:txBody>
      </p:sp>
      <p:sp>
        <p:nvSpPr>
          <p:cNvPr id="10" name="TextBox 10"/>
          <p:cNvSpPr txBox="1"/>
          <p:nvPr/>
        </p:nvSpPr>
        <p:spPr>
          <a:xfrm>
            <a:off x="6283625" y="4233086"/>
            <a:ext cx="10975675" cy="3431622"/>
          </a:xfrm>
          <a:prstGeom prst="rect">
            <a:avLst/>
          </a:prstGeom>
        </p:spPr>
        <p:txBody>
          <a:bodyPr lIns="0" tIns="0" rIns="0" bIns="0" rtlCol="0" anchor="t">
            <a:spAutoFit/>
          </a:bodyPr>
          <a:lstStyle/>
          <a:p>
            <a:pPr marL="529206" lvl="1" indent="-264603" algn="l">
              <a:lnSpc>
                <a:spcPts val="3431"/>
              </a:lnSpc>
              <a:buFont typeface="Arial"/>
              <a:buChar char="•"/>
            </a:pPr>
            <a:r>
              <a:rPr lang="en-US" sz="2451">
                <a:solidFill>
                  <a:srgbClr val="E5D0A9"/>
                </a:solidFill>
                <a:latin typeface="Blinker"/>
                <a:ea typeface="Blinker"/>
                <a:cs typeface="Blinker"/>
                <a:sym typeface="Blinker"/>
              </a:rPr>
              <a:t>Carte interactive : pays où les femmes ont la liberté de voyager et l’accès à l’égalité salariale, etc..</a:t>
            </a:r>
          </a:p>
          <a:p>
            <a:pPr algn="l">
              <a:lnSpc>
                <a:spcPts val="3431"/>
              </a:lnSpc>
            </a:pPr>
            <a:endParaRPr lang="en-US" sz="2451">
              <a:solidFill>
                <a:srgbClr val="E5D0A9"/>
              </a:solidFill>
              <a:latin typeface="Blinker"/>
              <a:ea typeface="Blinker"/>
              <a:cs typeface="Blinker"/>
              <a:sym typeface="Blinker"/>
            </a:endParaRPr>
          </a:p>
          <a:p>
            <a:pPr marL="529206" lvl="1" indent="-264603" algn="l">
              <a:lnSpc>
                <a:spcPts val="3431"/>
              </a:lnSpc>
              <a:buFont typeface="Arial"/>
              <a:buChar char="•"/>
            </a:pPr>
            <a:r>
              <a:rPr lang="en-US" sz="2451">
                <a:solidFill>
                  <a:srgbClr val="E5D0A9"/>
                </a:solidFill>
                <a:latin typeface="Blinker"/>
                <a:ea typeface="Blinker"/>
                <a:cs typeface="Blinker"/>
                <a:sym typeface="Blinker"/>
              </a:rPr>
              <a:t>Graphiques comparatifs : alphabétisation, emploi vulnérable, salariat par genre, représentation politique</a:t>
            </a:r>
          </a:p>
          <a:p>
            <a:pPr algn="l">
              <a:lnSpc>
                <a:spcPts val="3431"/>
              </a:lnSpc>
            </a:pPr>
            <a:endParaRPr lang="en-US" sz="2451">
              <a:solidFill>
                <a:srgbClr val="E5D0A9"/>
              </a:solidFill>
              <a:latin typeface="Blinker"/>
              <a:ea typeface="Blinker"/>
              <a:cs typeface="Blinker"/>
              <a:sym typeface="Blinker"/>
            </a:endParaRPr>
          </a:p>
          <a:p>
            <a:pPr marL="529206" lvl="1" indent="-264603" algn="l">
              <a:lnSpc>
                <a:spcPts val="3431"/>
              </a:lnSpc>
              <a:buFont typeface="Arial"/>
              <a:buChar char="•"/>
            </a:pPr>
            <a:r>
              <a:rPr lang="en-US" sz="2451">
                <a:solidFill>
                  <a:srgbClr val="E5D0A9"/>
                </a:solidFill>
                <a:latin typeface="Blinker"/>
                <a:ea typeface="Blinker"/>
                <a:cs typeface="Blinker"/>
                <a:sym typeface="Blinker"/>
              </a:rPr>
              <a:t>Focus sur évolutions historiques et écarts de genre selon zone géographique.</a:t>
            </a:r>
          </a:p>
          <a:p>
            <a:pPr algn="l">
              <a:lnSpc>
                <a:spcPts val="3431"/>
              </a:lnSpc>
            </a:pPr>
            <a:endParaRPr lang="en-US" sz="2451">
              <a:solidFill>
                <a:srgbClr val="E5D0A9"/>
              </a:solidFill>
              <a:latin typeface="Blinker"/>
              <a:ea typeface="Blinker"/>
              <a:cs typeface="Blinker"/>
              <a:sym typeface="Blinker"/>
            </a:endParaRPr>
          </a:p>
        </p:txBody>
      </p:sp>
      <p:sp>
        <p:nvSpPr>
          <p:cNvPr id="11" name="TextBox 11"/>
          <p:cNvSpPr txBox="1"/>
          <p:nvPr/>
        </p:nvSpPr>
        <p:spPr>
          <a:xfrm>
            <a:off x="17259300" y="9229725"/>
            <a:ext cx="152400" cy="180975"/>
          </a:xfrm>
          <a:prstGeom prst="rect">
            <a:avLst/>
          </a:prstGeom>
        </p:spPr>
        <p:txBody>
          <a:bodyPr wrap="none" lIns="0" tIns="0" rIns="0" bIns="0" rtlCol="0" anchor="t">
            <a:spAutoFit/>
          </a:bodyPr>
          <a:lstStyle/>
          <a:p>
            <a:pPr algn="ctr">
              <a:lnSpc>
                <a:spcPts val="2239"/>
              </a:lnSpc>
              <a:spcBef>
                <a:spcPct val="0"/>
              </a:spcBef>
            </a:pPr>
            <a:r>
              <a:rPr lang="en-US" sz="1599">
                <a:solidFill>
                  <a:srgbClr val="000000"/>
                </a:solidFill>
                <a:latin typeface="Assistant"/>
                <a:ea typeface="Assistant"/>
                <a:cs typeface="Assistant"/>
                <a:sym typeface="Assistant"/>
              </a:rPr>
              <a:t>9</a:t>
            </a:r>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042" y="0"/>
            <a:ext cx="17772958" cy="10287000"/>
          </a:xfrm>
          <a:custGeom>
            <a:avLst/>
            <a:gdLst/>
            <a:ahLst/>
            <a:cxnLst/>
            <a:rect l="l" t="t" r="r" b="b"/>
            <a:pathLst>
              <a:path w="17772958" h="10287000">
                <a:moveTo>
                  <a:pt x="0" y="0"/>
                </a:moveTo>
                <a:lnTo>
                  <a:pt x="17772958" y="0"/>
                </a:lnTo>
                <a:lnTo>
                  <a:pt x="17772958" y="10287000"/>
                </a:lnTo>
                <a:lnTo>
                  <a:pt x="0" y="10287000"/>
                </a:lnTo>
                <a:lnTo>
                  <a:pt x="0" y="0"/>
                </a:lnTo>
                <a:close/>
              </a:path>
            </a:pathLst>
          </a:custGeom>
          <a:blipFill>
            <a:blip r:embed="rId2"/>
            <a:stretch>
              <a:fillRect l="-10505" t="-16777" r="-1600" b="-12266"/>
            </a:stretch>
          </a:blipFill>
        </p:spPr>
      </p:sp>
      <p:grpSp>
        <p:nvGrpSpPr>
          <p:cNvPr id="3" name="Group 3"/>
          <p:cNvGrpSpPr/>
          <p:nvPr/>
        </p:nvGrpSpPr>
        <p:grpSpPr>
          <a:xfrm>
            <a:off x="0" y="0"/>
            <a:ext cx="515042" cy="10287000"/>
            <a:chOff x="0" y="0"/>
            <a:chExt cx="135649" cy="2709333"/>
          </a:xfrm>
        </p:grpSpPr>
        <p:sp>
          <p:nvSpPr>
            <p:cNvPr id="4" name="Freeform 4"/>
            <p:cNvSpPr/>
            <p:nvPr/>
          </p:nvSpPr>
          <p:spPr>
            <a:xfrm>
              <a:off x="0" y="0"/>
              <a:ext cx="135649" cy="2709333"/>
            </a:xfrm>
            <a:custGeom>
              <a:avLst/>
              <a:gdLst/>
              <a:ahLst/>
              <a:cxnLst/>
              <a:rect l="l" t="t" r="r" b="b"/>
              <a:pathLst>
                <a:path w="135649" h="2709333">
                  <a:moveTo>
                    <a:pt x="0" y="0"/>
                  </a:moveTo>
                  <a:lnTo>
                    <a:pt x="135649" y="0"/>
                  </a:lnTo>
                  <a:lnTo>
                    <a:pt x="135649" y="2709333"/>
                  </a:lnTo>
                  <a:lnTo>
                    <a:pt x="0" y="2709333"/>
                  </a:lnTo>
                  <a:close/>
                </a:path>
              </a:pathLst>
            </a:custGeom>
            <a:solidFill>
              <a:srgbClr val="E5D0A9"/>
            </a:solidFill>
          </p:spPr>
        </p:sp>
        <p:sp>
          <p:nvSpPr>
            <p:cNvPr id="5" name="TextBox 5"/>
            <p:cNvSpPr txBox="1"/>
            <p:nvPr/>
          </p:nvSpPr>
          <p:spPr>
            <a:xfrm>
              <a:off x="0" y="85725"/>
              <a:ext cx="135649" cy="2623608"/>
            </a:xfrm>
            <a:prstGeom prst="rect">
              <a:avLst/>
            </a:prstGeom>
          </p:spPr>
          <p:txBody>
            <a:bodyPr lIns="50800" tIns="50800" rIns="50800" bIns="50800" rtlCol="0" anchor="ctr"/>
            <a:lstStyle/>
            <a:p>
              <a:pPr algn="ctr">
                <a:lnSpc>
                  <a:spcPts val="2149"/>
                </a:lnSpc>
              </a:pPr>
              <a:endParaRPr/>
            </a:p>
          </p:txBody>
        </p:sp>
      </p:grpSp>
      <p:sp>
        <p:nvSpPr>
          <p:cNvPr id="6" name="TextBox 6"/>
          <p:cNvSpPr txBox="1"/>
          <p:nvPr/>
        </p:nvSpPr>
        <p:spPr>
          <a:xfrm>
            <a:off x="4822577" y="4652010"/>
            <a:ext cx="8642845" cy="1402080"/>
          </a:xfrm>
          <a:prstGeom prst="rect">
            <a:avLst/>
          </a:prstGeom>
        </p:spPr>
        <p:txBody>
          <a:bodyPr lIns="0" tIns="0" rIns="0" bIns="0" rtlCol="0" anchor="t">
            <a:spAutoFit/>
          </a:bodyPr>
          <a:lstStyle/>
          <a:p>
            <a:pPr algn="ctr">
              <a:lnSpc>
                <a:spcPts val="9960"/>
              </a:lnSpc>
            </a:pPr>
            <a:r>
              <a:rPr lang="en-US" sz="12000" b="1">
                <a:solidFill>
                  <a:srgbClr val="E5D0A9"/>
                </a:solidFill>
                <a:latin typeface="Blinker Bold"/>
                <a:ea typeface="Blinker Bold"/>
                <a:cs typeface="Blinker Bold"/>
                <a:sym typeface="Blinker Bold"/>
              </a:rPr>
              <a:t>THANK YOU</a:t>
            </a:r>
          </a:p>
        </p:txBody>
      </p:sp>
      <p:sp>
        <p:nvSpPr>
          <p:cNvPr id="7" name="Freeform 7" descr="Symbol"/>
          <p:cNvSpPr/>
          <p:nvPr/>
        </p:nvSpPr>
        <p:spPr>
          <a:xfrm>
            <a:off x="14133672" y="9258300"/>
            <a:ext cx="890488" cy="751711"/>
          </a:xfrm>
          <a:custGeom>
            <a:avLst/>
            <a:gdLst/>
            <a:ahLst/>
            <a:cxnLst/>
            <a:rect l="l" t="t" r="r" b="b"/>
            <a:pathLst>
              <a:path w="890488" h="751711">
                <a:moveTo>
                  <a:pt x="0" y="0"/>
                </a:moveTo>
                <a:lnTo>
                  <a:pt x="890488" y="0"/>
                </a:lnTo>
                <a:lnTo>
                  <a:pt x="890488" y="751711"/>
                </a:lnTo>
                <a:lnTo>
                  <a:pt x="0" y="7517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5175992" y="9561445"/>
            <a:ext cx="2410569" cy="448566"/>
          </a:xfrm>
          <a:prstGeom prst="rect">
            <a:avLst/>
          </a:prstGeom>
        </p:spPr>
        <p:txBody>
          <a:bodyPr lIns="0" tIns="0" rIns="0" bIns="0" rtlCol="0" anchor="t">
            <a:spAutoFit/>
          </a:bodyPr>
          <a:lstStyle/>
          <a:p>
            <a:pPr algn="ctr">
              <a:lnSpc>
                <a:spcPts val="3625"/>
              </a:lnSpc>
              <a:spcBef>
                <a:spcPct val="0"/>
              </a:spcBef>
            </a:pPr>
            <a:r>
              <a:rPr lang="en-US" sz="2589">
                <a:solidFill>
                  <a:srgbClr val="E5D0A9"/>
                </a:solidFill>
                <a:latin typeface="Blinker"/>
                <a:ea typeface="Blinker"/>
                <a:cs typeface="Blinker"/>
                <a:sym typeface="Blinker"/>
              </a:rPr>
              <a:t>Maryline Iannotta</a:t>
            </a:r>
          </a:p>
        </p:txBody>
      </p:sp>
    </p:spTree>
  </p:cSld>
  <p:clrMapOvr>
    <a:masterClrMapping/>
  </p:clrMapOvr>
  <p:transition>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463</Words>
  <Application>Microsoft Office PowerPoint</Application>
  <PresentationFormat>Personnalisé</PresentationFormat>
  <Paragraphs>65</Paragraphs>
  <Slides>10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Blinker</vt:lpstr>
      <vt:lpstr>Assistant</vt:lpstr>
      <vt:lpstr>Blinker Bold</vt: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Observation mondiale de la parite</dc:title>
  <dc:creator>Utilisateur</dc:creator>
  <cp:lastModifiedBy>Olivier Aymard</cp:lastModifiedBy>
  <cp:revision>3</cp:revision>
  <dcterms:created xsi:type="dcterms:W3CDTF">2006-08-16T00:00:00Z</dcterms:created>
  <dcterms:modified xsi:type="dcterms:W3CDTF">2025-10-21T12:45:40Z</dcterms:modified>
  <dc:identifier>DAG2aFCGXfc</dc:identifier>
</cp:coreProperties>
</file>